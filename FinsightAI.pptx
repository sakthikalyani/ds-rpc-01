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79D8"/>
    <a:srgbClr val="462E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79FE90D-CC64-45BC-9E66-654FCC48108D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BDAE244-ED68-471D-8A62-F72A06FCF907}">
      <dgm:prSet custT="1"/>
      <dgm:spPr/>
      <dgm:t>
        <a:bodyPr/>
        <a:lstStyle/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Add a signup flow with email-based role verification.</a:t>
          </a:r>
        </a:p>
      </dgm:t>
    </dgm:pt>
    <dgm:pt modelId="{33BF1499-8833-43FD-A723-66F817AD024B}" type="parTrans" cxnId="{19C0B354-4062-43BE-A13A-4DD5615A1A6F}">
      <dgm:prSet/>
      <dgm:spPr/>
      <dgm:t>
        <a:bodyPr/>
        <a:lstStyle/>
        <a:p>
          <a:endParaRPr lang="en-US"/>
        </a:p>
      </dgm:t>
    </dgm:pt>
    <dgm:pt modelId="{4FF9FD1A-266D-4B8C-8905-02DB6E0F9B32}" type="sibTrans" cxnId="{19C0B354-4062-43BE-A13A-4DD5615A1A6F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84721331-4320-46AD-9819-988F7E97942C}">
      <dgm:prSet custT="1"/>
      <dgm:spPr/>
      <dgm:t>
        <a:bodyPr/>
        <a:lstStyle/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Build a query analytics dashboard to track common user questions.</a:t>
          </a:r>
        </a:p>
      </dgm:t>
    </dgm:pt>
    <dgm:pt modelId="{D28FD723-FA7B-4298-9F45-0CEF76DB784E}" type="parTrans" cxnId="{9A7784F2-C377-4463-8165-904A0902BD52}">
      <dgm:prSet/>
      <dgm:spPr/>
      <dgm:t>
        <a:bodyPr/>
        <a:lstStyle/>
        <a:p>
          <a:endParaRPr lang="en-US"/>
        </a:p>
      </dgm:t>
    </dgm:pt>
    <dgm:pt modelId="{37721E15-1C7C-4F1D-BECD-865F34DDE849}" type="sibTrans" cxnId="{9A7784F2-C377-4463-8165-904A0902BD52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0C2DA10A-99C1-4154-94FD-EBFEBDB0BE2A}">
      <dgm:prSet custT="1"/>
      <dgm:spPr/>
      <dgm:t>
        <a:bodyPr/>
        <a:lstStyle/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Include feedback options (thumbs up/down) for each chatbot response to refine the RAG pipeline.</a:t>
          </a:r>
        </a:p>
      </dgm:t>
    </dgm:pt>
    <dgm:pt modelId="{FFC61D1B-1000-4FB1-A6AD-13CBC9E22846}" type="parTrans" cxnId="{F3315065-C9B2-4D88-8A07-8C40C278E64E}">
      <dgm:prSet/>
      <dgm:spPr/>
      <dgm:t>
        <a:bodyPr/>
        <a:lstStyle/>
        <a:p>
          <a:endParaRPr lang="en-US"/>
        </a:p>
      </dgm:t>
    </dgm:pt>
    <dgm:pt modelId="{EC39CE98-5251-4FCF-93AA-04F29659CC94}" type="sibTrans" cxnId="{F3315065-C9B2-4D88-8A07-8C40C278E64E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4B7B49E9-6032-4D31-B9D6-CF05A1A557C8}">
      <dgm:prSet custT="1"/>
      <dgm:spPr/>
      <dgm:t>
        <a:bodyPr/>
        <a:lstStyle/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Implement query rephrasing if no answer is found (e.g., "Would you like to rephrase your question?").</a:t>
          </a:r>
        </a:p>
      </dgm:t>
    </dgm:pt>
    <dgm:pt modelId="{6122203C-5FAD-41F7-A16C-60092BC3336C}" type="parTrans" cxnId="{69E735FD-AB4E-48AD-AECC-9075F4F254F0}">
      <dgm:prSet/>
      <dgm:spPr/>
      <dgm:t>
        <a:bodyPr/>
        <a:lstStyle/>
        <a:p>
          <a:endParaRPr lang="en-US"/>
        </a:p>
      </dgm:t>
    </dgm:pt>
    <dgm:pt modelId="{CBCF764E-C96D-414C-AE71-6DD8555730D3}" type="sibTrans" cxnId="{69E735FD-AB4E-48AD-AECC-9075F4F254F0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CDF08A52-952A-4909-9F89-5BF69F2F104A}">
      <dgm:prSet custT="1"/>
      <dgm:spPr/>
      <dgm:t>
        <a:bodyPr/>
        <a:lstStyle/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Enable PDF or Excel document ingestion for new departments.</a:t>
          </a:r>
        </a:p>
      </dgm:t>
    </dgm:pt>
    <dgm:pt modelId="{0C2EB5BD-B3DC-4438-A8C2-9A401FECF11A}" type="parTrans" cxnId="{0D31CCB7-6C95-4799-AEA3-9359E8D7E6D2}">
      <dgm:prSet/>
      <dgm:spPr/>
      <dgm:t>
        <a:bodyPr/>
        <a:lstStyle/>
        <a:p>
          <a:endParaRPr lang="en-US"/>
        </a:p>
      </dgm:t>
    </dgm:pt>
    <dgm:pt modelId="{E1B232D1-3E62-4CA8-8B8E-F52E8840814E}" type="sibTrans" cxnId="{0D31CCB7-6C95-4799-AEA3-9359E8D7E6D2}">
      <dgm:prSet phldrT="5" phldr="0"/>
      <dgm:spPr/>
      <dgm:t>
        <a:bodyPr/>
        <a:lstStyle/>
        <a:p>
          <a:r>
            <a:rPr lang="en-US"/>
            <a:t>5</a:t>
          </a:r>
        </a:p>
      </dgm:t>
    </dgm:pt>
    <dgm:pt modelId="{740A986D-8EFC-4947-94F4-82EF439AF7DA}" type="pres">
      <dgm:prSet presAssocID="{D79FE90D-CC64-45BC-9E66-654FCC48108D}" presName="Name0" presStyleCnt="0">
        <dgm:presLayoutVars>
          <dgm:animLvl val="lvl"/>
          <dgm:resizeHandles val="exact"/>
        </dgm:presLayoutVars>
      </dgm:prSet>
      <dgm:spPr/>
    </dgm:pt>
    <dgm:pt modelId="{F3986451-FB11-49CD-8BCF-DF691DA192E9}" type="pres">
      <dgm:prSet presAssocID="{FBDAE244-ED68-471D-8A62-F72A06FCF907}" presName="compositeNode" presStyleCnt="0">
        <dgm:presLayoutVars>
          <dgm:bulletEnabled val="1"/>
        </dgm:presLayoutVars>
      </dgm:prSet>
      <dgm:spPr/>
    </dgm:pt>
    <dgm:pt modelId="{61950AE6-3FED-4E7A-929B-C963DA8B6A8A}" type="pres">
      <dgm:prSet presAssocID="{FBDAE244-ED68-471D-8A62-F72A06FCF907}" presName="bgRect" presStyleLbl="bgAccFollowNode1" presStyleIdx="0" presStyleCnt="5"/>
      <dgm:spPr/>
    </dgm:pt>
    <dgm:pt modelId="{7E426CB7-AB43-4521-9936-7C30177DBC43}" type="pres">
      <dgm:prSet presAssocID="{4FF9FD1A-266D-4B8C-8905-02DB6E0F9B32}" presName="sibTransNodeCircle" presStyleLbl="alignNode1" presStyleIdx="0" presStyleCnt="10">
        <dgm:presLayoutVars>
          <dgm:chMax val="0"/>
          <dgm:bulletEnabled/>
        </dgm:presLayoutVars>
      </dgm:prSet>
      <dgm:spPr/>
    </dgm:pt>
    <dgm:pt modelId="{6291D6F7-40A6-4813-AA1C-005DDA951279}" type="pres">
      <dgm:prSet presAssocID="{FBDAE244-ED68-471D-8A62-F72A06FCF907}" presName="bottomLine" presStyleLbl="alignNode1" presStyleIdx="1" presStyleCnt="10">
        <dgm:presLayoutVars/>
      </dgm:prSet>
      <dgm:spPr/>
    </dgm:pt>
    <dgm:pt modelId="{EA08437A-7C72-4C09-B1BB-765E1953850D}" type="pres">
      <dgm:prSet presAssocID="{FBDAE244-ED68-471D-8A62-F72A06FCF907}" presName="nodeText" presStyleLbl="bgAccFollowNode1" presStyleIdx="0" presStyleCnt="5">
        <dgm:presLayoutVars>
          <dgm:bulletEnabled val="1"/>
        </dgm:presLayoutVars>
      </dgm:prSet>
      <dgm:spPr/>
    </dgm:pt>
    <dgm:pt modelId="{4DB9FF95-106C-4086-AE83-D9AD8A40C5E2}" type="pres">
      <dgm:prSet presAssocID="{4FF9FD1A-266D-4B8C-8905-02DB6E0F9B32}" presName="sibTrans" presStyleCnt="0"/>
      <dgm:spPr/>
    </dgm:pt>
    <dgm:pt modelId="{07D12D9C-EB54-4C42-B588-03F7E594C729}" type="pres">
      <dgm:prSet presAssocID="{84721331-4320-46AD-9819-988F7E97942C}" presName="compositeNode" presStyleCnt="0">
        <dgm:presLayoutVars>
          <dgm:bulletEnabled val="1"/>
        </dgm:presLayoutVars>
      </dgm:prSet>
      <dgm:spPr/>
    </dgm:pt>
    <dgm:pt modelId="{B885A2F6-70BD-437B-8774-CCFF99A3D96E}" type="pres">
      <dgm:prSet presAssocID="{84721331-4320-46AD-9819-988F7E97942C}" presName="bgRect" presStyleLbl="bgAccFollowNode1" presStyleIdx="1" presStyleCnt="5"/>
      <dgm:spPr/>
    </dgm:pt>
    <dgm:pt modelId="{9D6B9AB3-E84D-47E9-B6B0-E4CD1D5FB33C}" type="pres">
      <dgm:prSet presAssocID="{37721E15-1C7C-4F1D-BECD-865F34DDE849}" presName="sibTransNodeCircle" presStyleLbl="alignNode1" presStyleIdx="2" presStyleCnt="10">
        <dgm:presLayoutVars>
          <dgm:chMax val="0"/>
          <dgm:bulletEnabled/>
        </dgm:presLayoutVars>
      </dgm:prSet>
      <dgm:spPr/>
    </dgm:pt>
    <dgm:pt modelId="{5A760993-2BA9-4733-9D68-38F816B93773}" type="pres">
      <dgm:prSet presAssocID="{84721331-4320-46AD-9819-988F7E97942C}" presName="bottomLine" presStyleLbl="alignNode1" presStyleIdx="3" presStyleCnt="10">
        <dgm:presLayoutVars/>
      </dgm:prSet>
      <dgm:spPr/>
    </dgm:pt>
    <dgm:pt modelId="{66240600-D0DF-40BF-BF0E-CCB310D95EA8}" type="pres">
      <dgm:prSet presAssocID="{84721331-4320-46AD-9819-988F7E97942C}" presName="nodeText" presStyleLbl="bgAccFollowNode1" presStyleIdx="1" presStyleCnt="5">
        <dgm:presLayoutVars>
          <dgm:bulletEnabled val="1"/>
        </dgm:presLayoutVars>
      </dgm:prSet>
      <dgm:spPr/>
    </dgm:pt>
    <dgm:pt modelId="{2BCD69A5-A817-4670-976A-917DD2882056}" type="pres">
      <dgm:prSet presAssocID="{37721E15-1C7C-4F1D-BECD-865F34DDE849}" presName="sibTrans" presStyleCnt="0"/>
      <dgm:spPr/>
    </dgm:pt>
    <dgm:pt modelId="{CE6301B8-C5BC-40C6-85D3-3DE978E66093}" type="pres">
      <dgm:prSet presAssocID="{0C2DA10A-99C1-4154-94FD-EBFEBDB0BE2A}" presName="compositeNode" presStyleCnt="0">
        <dgm:presLayoutVars>
          <dgm:bulletEnabled val="1"/>
        </dgm:presLayoutVars>
      </dgm:prSet>
      <dgm:spPr/>
    </dgm:pt>
    <dgm:pt modelId="{CC11B680-25C9-4633-A825-6C6412330209}" type="pres">
      <dgm:prSet presAssocID="{0C2DA10A-99C1-4154-94FD-EBFEBDB0BE2A}" presName="bgRect" presStyleLbl="bgAccFollowNode1" presStyleIdx="2" presStyleCnt="5"/>
      <dgm:spPr/>
    </dgm:pt>
    <dgm:pt modelId="{12DA5CDF-DF50-440E-91A4-EAACA828C2DF}" type="pres">
      <dgm:prSet presAssocID="{EC39CE98-5251-4FCF-93AA-04F29659CC94}" presName="sibTransNodeCircle" presStyleLbl="alignNode1" presStyleIdx="4" presStyleCnt="10">
        <dgm:presLayoutVars>
          <dgm:chMax val="0"/>
          <dgm:bulletEnabled/>
        </dgm:presLayoutVars>
      </dgm:prSet>
      <dgm:spPr/>
    </dgm:pt>
    <dgm:pt modelId="{19376BE6-397D-4180-A9F9-325348CFB6FF}" type="pres">
      <dgm:prSet presAssocID="{0C2DA10A-99C1-4154-94FD-EBFEBDB0BE2A}" presName="bottomLine" presStyleLbl="alignNode1" presStyleIdx="5" presStyleCnt="10">
        <dgm:presLayoutVars/>
      </dgm:prSet>
      <dgm:spPr/>
    </dgm:pt>
    <dgm:pt modelId="{05456395-F465-414B-B3DF-B03B3B571655}" type="pres">
      <dgm:prSet presAssocID="{0C2DA10A-99C1-4154-94FD-EBFEBDB0BE2A}" presName="nodeText" presStyleLbl="bgAccFollowNode1" presStyleIdx="2" presStyleCnt="5">
        <dgm:presLayoutVars>
          <dgm:bulletEnabled val="1"/>
        </dgm:presLayoutVars>
      </dgm:prSet>
      <dgm:spPr/>
    </dgm:pt>
    <dgm:pt modelId="{300836BA-18BE-4216-A934-C596F7F4F9DB}" type="pres">
      <dgm:prSet presAssocID="{EC39CE98-5251-4FCF-93AA-04F29659CC94}" presName="sibTrans" presStyleCnt="0"/>
      <dgm:spPr/>
    </dgm:pt>
    <dgm:pt modelId="{3AFB317C-D774-44DD-BC49-939DFC9480D0}" type="pres">
      <dgm:prSet presAssocID="{4B7B49E9-6032-4D31-B9D6-CF05A1A557C8}" presName="compositeNode" presStyleCnt="0">
        <dgm:presLayoutVars>
          <dgm:bulletEnabled val="1"/>
        </dgm:presLayoutVars>
      </dgm:prSet>
      <dgm:spPr/>
    </dgm:pt>
    <dgm:pt modelId="{17DEE432-8E08-401F-8F69-49618D3DF823}" type="pres">
      <dgm:prSet presAssocID="{4B7B49E9-6032-4D31-B9D6-CF05A1A557C8}" presName="bgRect" presStyleLbl="bgAccFollowNode1" presStyleIdx="3" presStyleCnt="5"/>
      <dgm:spPr/>
    </dgm:pt>
    <dgm:pt modelId="{F52F4FBC-ADD7-4791-B62D-389E86897E4C}" type="pres">
      <dgm:prSet presAssocID="{CBCF764E-C96D-414C-AE71-6DD8555730D3}" presName="sibTransNodeCircle" presStyleLbl="alignNode1" presStyleIdx="6" presStyleCnt="10">
        <dgm:presLayoutVars>
          <dgm:chMax val="0"/>
          <dgm:bulletEnabled/>
        </dgm:presLayoutVars>
      </dgm:prSet>
      <dgm:spPr/>
    </dgm:pt>
    <dgm:pt modelId="{2F607A85-1545-46F0-AC43-3D420F5B2DD0}" type="pres">
      <dgm:prSet presAssocID="{4B7B49E9-6032-4D31-B9D6-CF05A1A557C8}" presName="bottomLine" presStyleLbl="alignNode1" presStyleIdx="7" presStyleCnt="10">
        <dgm:presLayoutVars/>
      </dgm:prSet>
      <dgm:spPr/>
    </dgm:pt>
    <dgm:pt modelId="{17669324-22F1-45A6-AE72-195252E76A67}" type="pres">
      <dgm:prSet presAssocID="{4B7B49E9-6032-4D31-B9D6-CF05A1A557C8}" presName="nodeText" presStyleLbl="bgAccFollowNode1" presStyleIdx="3" presStyleCnt="5">
        <dgm:presLayoutVars>
          <dgm:bulletEnabled val="1"/>
        </dgm:presLayoutVars>
      </dgm:prSet>
      <dgm:spPr/>
    </dgm:pt>
    <dgm:pt modelId="{23190948-B9A9-40EB-AB24-F8D5C6FDF2FC}" type="pres">
      <dgm:prSet presAssocID="{CBCF764E-C96D-414C-AE71-6DD8555730D3}" presName="sibTrans" presStyleCnt="0"/>
      <dgm:spPr/>
    </dgm:pt>
    <dgm:pt modelId="{36DDD232-10A2-45B3-88EF-4A4FD9FED211}" type="pres">
      <dgm:prSet presAssocID="{CDF08A52-952A-4909-9F89-5BF69F2F104A}" presName="compositeNode" presStyleCnt="0">
        <dgm:presLayoutVars>
          <dgm:bulletEnabled val="1"/>
        </dgm:presLayoutVars>
      </dgm:prSet>
      <dgm:spPr/>
    </dgm:pt>
    <dgm:pt modelId="{E06842E6-8C5B-4D40-B3EB-C16A9BF05E39}" type="pres">
      <dgm:prSet presAssocID="{CDF08A52-952A-4909-9F89-5BF69F2F104A}" presName="bgRect" presStyleLbl="bgAccFollowNode1" presStyleIdx="4" presStyleCnt="5"/>
      <dgm:spPr/>
    </dgm:pt>
    <dgm:pt modelId="{3AE65489-EBE4-48A3-B15C-8C262DF29445}" type="pres">
      <dgm:prSet presAssocID="{E1B232D1-3E62-4CA8-8B8E-F52E8840814E}" presName="sibTransNodeCircle" presStyleLbl="alignNode1" presStyleIdx="8" presStyleCnt="10">
        <dgm:presLayoutVars>
          <dgm:chMax val="0"/>
          <dgm:bulletEnabled/>
        </dgm:presLayoutVars>
      </dgm:prSet>
      <dgm:spPr/>
    </dgm:pt>
    <dgm:pt modelId="{BFE74509-BB2B-4F7A-A947-12FBA5CAB1E2}" type="pres">
      <dgm:prSet presAssocID="{CDF08A52-952A-4909-9F89-5BF69F2F104A}" presName="bottomLine" presStyleLbl="alignNode1" presStyleIdx="9" presStyleCnt="10">
        <dgm:presLayoutVars/>
      </dgm:prSet>
      <dgm:spPr/>
    </dgm:pt>
    <dgm:pt modelId="{165E9D54-41C7-4762-842F-54CB53D2175E}" type="pres">
      <dgm:prSet presAssocID="{CDF08A52-952A-4909-9F89-5BF69F2F104A}" presName="nodeText" presStyleLbl="bgAccFollowNode1" presStyleIdx="4" presStyleCnt="5">
        <dgm:presLayoutVars>
          <dgm:bulletEnabled val="1"/>
        </dgm:presLayoutVars>
      </dgm:prSet>
      <dgm:spPr/>
    </dgm:pt>
  </dgm:ptLst>
  <dgm:cxnLst>
    <dgm:cxn modelId="{3EBE7103-F895-43B5-AD1E-3A3B57B4AB7E}" type="presOf" srcId="{84721331-4320-46AD-9819-988F7E97942C}" destId="{66240600-D0DF-40BF-BF0E-CCB310D95EA8}" srcOrd="1" destOrd="0" presId="urn:microsoft.com/office/officeart/2016/7/layout/BasicLinearProcessNumbered"/>
    <dgm:cxn modelId="{71BAC715-7A46-4745-A3D4-B8A25CCE34A2}" type="presOf" srcId="{CDF08A52-952A-4909-9F89-5BF69F2F104A}" destId="{165E9D54-41C7-4762-842F-54CB53D2175E}" srcOrd="1" destOrd="0" presId="urn:microsoft.com/office/officeart/2016/7/layout/BasicLinearProcessNumbered"/>
    <dgm:cxn modelId="{E45B4521-B4EB-4C77-B46F-B078647E1805}" type="presOf" srcId="{84721331-4320-46AD-9819-988F7E97942C}" destId="{B885A2F6-70BD-437B-8774-CCFF99A3D96E}" srcOrd="0" destOrd="0" presId="urn:microsoft.com/office/officeart/2016/7/layout/BasicLinearProcessNumbered"/>
    <dgm:cxn modelId="{C3276D27-DEE0-4396-8DCE-F587FF00D2FF}" type="presOf" srcId="{4B7B49E9-6032-4D31-B9D6-CF05A1A557C8}" destId="{17DEE432-8E08-401F-8F69-49618D3DF823}" srcOrd="0" destOrd="0" presId="urn:microsoft.com/office/officeart/2016/7/layout/BasicLinearProcessNumbered"/>
    <dgm:cxn modelId="{00557729-FD73-4361-A3FE-ABA12C74E01B}" type="presOf" srcId="{FBDAE244-ED68-471D-8A62-F72A06FCF907}" destId="{EA08437A-7C72-4C09-B1BB-765E1953850D}" srcOrd="1" destOrd="0" presId="urn:microsoft.com/office/officeart/2016/7/layout/BasicLinearProcessNumbered"/>
    <dgm:cxn modelId="{DCDE0B30-0CDC-4720-99BF-B6DFFBFFB030}" type="presOf" srcId="{FBDAE244-ED68-471D-8A62-F72A06FCF907}" destId="{61950AE6-3FED-4E7A-929B-C963DA8B6A8A}" srcOrd="0" destOrd="0" presId="urn:microsoft.com/office/officeart/2016/7/layout/BasicLinearProcessNumbered"/>
    <dgm:cxn modelId="{BC6D4645-3758-4294-98AE-1CC59E6FAEB5}" type="presOf" srcId="{E1B232D1-3E62-4CA8-8B8E-F52E8840814E}" destId="{3AE65489-EBE4-48A3-B15C-8C262DF29445}" srcOrd="0" destOrd="0" presId="urn:microsoft.com/office/officeart/2016/7/layout/BasicLinearProcessNumbered"/>
    <dgm:cxn modelId="{F3315065-C9B2-4D88-8A07-8C40C278E64E}" srcId="{D79FE90D-CC64-45BC-9E66-654FCC48108D}" destId="{0C2DA10A-99C1-4154-94FD-EBFEBDB0BE2A}" srcOrd="2" destOrd="0" parTransId="{FFC61D1B-1000-4FB1-A6AD-13CBC9E22846}" sibTransId="{EC39CE98-5251-4FCF-93AA-04F29659CC94}"/>
    <dgm:cxn modelId="{5E5A324C-37FD-49F5-A006-F6EC0CB82B27}" type="presOf" srcId="{4B7B49E9-6032-4D31-B9D6-CF05A1A557C8}" destId="{17669324-22F1-45A6-AE72-195252E76A67}" srcOrd="1" destOrd="0" presId="urn:microsoft.com/office/officeart/2016/7/layout/BasicLinearProcessNumbered"/>
    <dgm:cxn modelId="{19C0B354-4062-43BE-A13A-4DD5615A1A6F}" srcId="{D79FE90D-CC64-45BC-9E66-654FCC48108D}" destId="{FBDAE244-ED68-471D-8A62-F72A06FCF907}" srcOrd="0" destOrd="0" parTransId="{33BF1499-8833-43FD-A723-66F817AD024B}" sibTransId="{4FF9FD1A-266D-4B8C-8905-02DB6E0F9B32}"/>
    <dgm:cxn modelId="{FF9E5D76-EDA5-401E-A875-C23FCF4BDC5A}" type="presOf" srcId="{D79FE90D-CC64-45BC-9E66-654FCC48108D}" destId="{740A986D-8EFC-4947-94F4-82EF439AF7DA}" srcOrd="0" destOrd="0" presId="urn:microsoft.com/office/officeart/2016/7/layout/BasicLinearProcessNumbered"/>
    <dgm:cxn modelId="{8250997F-B141-403B-8CA4-E8052C09B961}" type="presOf" srcId="{4FF9FD1A-266D-4B8C-8905-02DB6E0F9B32}" destId="{7E426CB7-AB43-4521-9936-7C30177DBC43}" srcOrd="0" destOrd="0" presId="urn:microsoft.com/office/officeart/2016/7/layout/BasicLinearProcessNumbered"/>
    <dgm:cxn modelId="{3C9F1F9A-8E0F-415F-A835-A14812A915FE}" type="presOf" srcId="{37721E15-1C7C-4F1D-BECD-865F34DDE849}" destId="{9D6B9AB3-E84D-47E9-B6B0-E4CD1D5FB33C}" srcOrd="0" destOrd="0" presId="urn:microsoft.com/office/officeart/2016/7/layout/BasicLinearProcessNumbered"/>
    <dgm:cxn modelId="{6E2F77AF-35CB-4D1A-A4BE-CE6CC4BF0B3D}" type="presOf" srcId="{CDF08A52-952A-4909-9F89-5BF69F2F104A}" destId="{E06842E6-8C5B-4D40-B3EB-C16A9BF05E39}" srcOrd="0" destOrd="0" presId="urn:microsoft.com/office/officeart/2016/7/layout/BasicLinearProcessNumbered"/>
    <dgm:cxn modelId="{0D31CCB7-6C95-4799-AEA3-9359E8D7E6D2}" srcId="{D79FE90D-CC64-45BC-9E66-654FCC48108D}" destId="{CDF08A52-952A-4909-9F89-5BF69F2F104A}" srcOrd="4" destOrd="0" parTransId="{0C2EB5BD-B3DC-4438-A8C2-9A401FECF11A}" sibTransId="{E1B232D1-3E62-4CA8-8B8E-F52E8840814E}"/>
    <dgm:cxn modelId="{230278D2-0517-4F57-BDDA-130777666B55}" type="presOf" srcId="{EC39CE98-5251-4FCF-93AA-04F29659CC94}" destId="{12DA5CDF-DF50-440E-91A4-EAACA828C2DF}" srcOrd="0" destOrd="0" presId="urn:microsoft.com/office/officeart/2016/7/layout/BasicLinearProcessNumbered"/>
    <dgm:cxn modelId="{50AE6CD6-55C7-4909-B7BA-930F4CBD5152}" type="presOf" srcId="{0C2DA10A-99C1-4154-94FD-EBFEBDB0BE2A}" destId="{05456395-F465-414B-B3DF-B03B3B571655}" srcOrd="1" destOrd="0" presId="urn:microsoft.com/office/officeart/2016/7/layout/BasicLinearProcessNumbered"/>
    <dgm:cxn modelId="{3644E1DC-21C0-4EA4-8FB6-61A982E478CB}" type="presOf" srcId="{CBCF764E-C96D-414C-AE71-6DD8555730D3}" destId="{F52F4FBC-ADD7-4791-B62D-389E86897E4C}" srcOrd="0" destOrd="0" presId="urn:microsoft.com/office/officeart/2016/7/layout/BasicLinearProcessNumbered"/>
    <dgm:cxn modelId="{0C333DE8-2CFE-4277-90AF-686D29A83395}" type="presOf" srcId="{0C2DA10A-99C1-4154-94FD-EBFEBDB0BE2A}" destId="{CC11B680-25C9-4633-A825-6C6412330209}" srcOrd="0" destOrd="0" presId="urn:microsoft.com/office/officeart/2016/7/layout/BasicLinearProcessNumbered"/>
    <dgm:cxn modelId="{9A7784F2-C377-4463-8165-904A0902BD52}" srcId="{D79FE90D-CC64-45BC-9E66-654FCC48108D}" destId="{84721331-4320-46AD-9819-988F7E97942C}" srcOrd="1" destOrd="0" parTransId="{D28FD723-FA7B-4298-9F45-0CEF76DB784E}" sibTransId="{37721E15-1C7C-4F1D-BECD-865F34DDE849}"/>
    <dgm:cxn modelId="{69E735FD-AB4E-48AD-AECC-9075F4F254F0}" srcId="{D79FE90D-CC64-45BC-9E66-654FCC48108D}" destId="{4B7B49E9-6032-4D31-B9D6-CF05A1A557C8}" srcOrd="3" destOrd="0" parTransId="{6122203C-5FAD-41F7-A16C-60092BC3336C}" sibTransId="{CBCF764E-C96D-414C-AE71-6DD8555730D3}"/>
    <dgm:cxn modelId="{B23BAB09-BF55-4AF1-9898-611A9F81A6FC}" type="presParOf" srcId="{740A986D-8EFC-4947-94F4-82EF439AF7DA}" destId="{F3986451-FB11-49CD-8BCF-DF691DA192E9}" srcOrd="0" destOrd="0" presId="urn:microsoft.com/office/officeart/2016/7/layout/BasicLinearProcessNumbered"/>
    <dgm:cxn modelId="{8B11E6A6-0850-4BAF-8DF1-8FBF763F4810}" type="presParOf" srcId="{F3986451-FB11-49CD-8BCF-DF691DA192E9}" destId="{61950AE6-3FED-4E7A-929B-C963DA8B6A8A}" srcOrd="0" destOrd="0" presId="urn:microsoft.com/office/officeart/2016/7/layout/BasicLinearProcessNumbered"/>
    <dgm:cxn modelId="{90F646CC-DFDE-4C89-9671-C0017FBE4765}" type="presParOf" srcId="{F3986451-FB11-49CD-8BCF-DF691DA192E9}" destId="{7E426CB7-AB43-4521-9936-7C30177DBC43}" srcOrd="1" destOrd="0" presId="urn:microsoft.com/office/officeart/2016/7/layout/BasicLinearProcessNumbered"/>
    <dgm:cxn modelId="{CCE51CA7-87C2-417F-BE0B-54E93C97EF1E}" type="presParOf" srcId="{F3986451-FB11-49CD-8BCF-DF691DA192E9}" destId="{6291D6F7-40A6-4813-AA1C-005DDA951279}" srcOrd="2" destOrd="0" presId="urn:microsoft.com/office/officeart/2016/7/layout/BasicLinearProcessNumbered"/>
    <dgm:cxn modelId="{965F8484-FC05-4878-8DAF-F8B884DB2C6E}" type="presParOf" srcId="{F3986451-FB11-49CD-8BCF-DF691DA192E9}" destId="{EA08437A-7C72-4C09-B1BB-765E1953850D}" srcOrd="3" destOrd="0" presId="urn:microsoft.com/office/officeart/2016/7/layout/BasicLinearProcessNumbered"/>
    <dgm:cxn modelId="{32B74D1C-0693-4DB1-9572-0B8450742949}" type="presParOf" srcId="{740A986D-8EFC-4947-94F4-82EF439AF7DA}" destId="{4DB9FF95-106C-4086-AE83-D9AD8A40C5E2}" srcOrd="1" destOrd="0" presId="urn:microsoft.com/office/officeart/2016/7/layout/BasicLinearProcessNumbered"/>
    <dgm:cxn modelId="{8E32E559-2E3D-4329-BD14-B0C409E6F5AA}" type="presParOf" srcId="{740A986D-8EFC-4947-94F4-82EF439AF7DA}" destId="{07D12D9C-EB54-4C42-B588-03F7E594C729}" srcOrd="2" destOrd="0" presId="urn:microsoft.com/office/officeart/2016/7/layout/BasicLinearProcessNumbered"/>
    <dgm:cxn modelId="{F2DC9360-8CC9-4CA2-A080-C40001B80D94}" type="presParOf" srcId="{07D12D9C-EB54-4C42-B588-03F7E594C729}" destId="{B885A2F6-70BD-437B-8774-CCFF99A3D96E}" srcOrd="0" destOrd="0" presId="urn:microsoft.com/office/officeart/2016/7/layout/BasicLinearProcessNumbered"/>
    <dgm:cxn modelId="{1D53D2F2-B944-4259-925A-2712DFB098A2}" type="presParOf" srcId="{07D12D9C-EB54-4C42-B588-03F7E594C729}" destId="{9D6B9AB3-E84D-47E9-B6B0-E4CD1D5FB33C}" srcOrd="1" destOrd="0" presId="urn:microsoft.com/office/officeart/2016/7/layout/BasicLinearProcessNumbered"/>
    <dgm:cxn modelId="{F785FD55-621C-4E39-BB85-88F8B64B98D9}" type="presParOf" srcId="{07D12D9C-EB54-4C42-B588-03F7E594C729}" destId="{5A760993-2BA9-4733-9D68-38F816B93773}" srcOrd="2" destOrd="0" presId="urn:microsoft.com/office/officeart/2016/7/layout/BasicLinearProcessNumbered"/>
    <dgm:cxn modelId="{13FEF4E7-9620-451B-8BFD-5984C02135A3}" type="presParOf" srcId="{07D12D9C-EB54-4C42-B588-03F7E594C729}" destId="{66240600-D0DF-40BF-BF0E-CCB310D95EA8}" srcOrd="3" destOrd="0" presId="urn:microsoft.com/office/officeart/2016/7/layout/BasicLinearProcessNumbered"/>
    <dgm:cxn modelId="{C2850C75-8F95-47BB-9DED-9D22B694A880}" type="presParOf" srcId="{740A986D-8EFC-4947-94F4-82EF439AF7DA}" destId="{2BCD69A5-A817-4670-976A-917DD2882056}" srcOrd="3" destOrd="0" presId="urn:microsoft.com/office/officeart/2016/7/layout/BasicLinearProcessNumbered"/>
    <dgm:cxn modelId="{3EC538C2-A736-4CE0-8EEA-A126F2E4A9A0}" type="presParOf" srcId="{740A986D-8EFC-4947-94F4-82EF439AF7DA}" destId="{CE6301B8-C5BC-40C6-85D3-3DE978E66093}" srcOrd="4" destOrd="0" presId="urn:microsoft.com/office/officeart/2016/7/layout/BasicLinearProcessNumbered"/>
    <dgm:cxn modelId="{E2379F5E-28C8-468C-8CCD-E0CA18D5A3D9}" type="presParOf" srcId="{CE6301B8-C5BC-40C6-85D3-3DE978E66093}" destId="{CC11B680-25C9-4633-A825-6C6412330209}" srcOrd="0" destOrd="0" presId="urn:microsoft.com/office/officeart/2016/7/layout/BasicLinearProcessNumbered"/>
    <dgm:cxn modelId="{5A921AA1-0A75-4907-AD05-E596C8A49625}" type="presParOf" srcId="{CE6301B8-C5BC-40C6-85D3-3DE978E66093}" destId="{12DA5CDF-DF50-440E-91A4-EAACA828C2DF}" srcOrd="1" destOrd="0" presId="urn:microsoft.com/office/officeart/2016/7/layout/BasicLinearProcessNumbered"/>
    <dgm:cxn modelId="{A0120A4C-634A-44A3-9F13-E1EF090E84BC}" type="presParOf" srcId="{CE6301B8-C5BC-40C6-85D3-3DE978E66093}" destId="{19376BE6-397D-4180-A9F9-325348CFB6FF}" srcOrd="2" destOrd="0" presId="urn:microsoft.com/office/officeart/2016/7/layout/BasicLinearProcessNumbered"/>
    <dgm:cxn modelId="{B2ACE641-8B6C-4AB1-BE6C-002FF0ECBA22}" type="presParOf" srcId="{CE6301B8-C5BC-40C6-85D3-3DE978E66093}" destId="{05456395-F465-414B-B3DF-B03B3B571655}" srcOrd="3" destOrd="0" presId="urn:microsoft.com/office/officeart/2016/7/layout/BasicLinearProcessNumbered"/>
    <dgm:cxn modelId="{44C3B97E-F70C-4386-87E2-982A5FBAABE9}" type="presParOf" srcId="{740A986D-8EFC-4947-94F4-82EF439AF7DA}" destId="{300836BA-18BE-4216-A934-C596F7F4F9DB}" srcOrd="5" destOrd="0" presId="urn:microsoft.com/office/officeart/2016/7/layout/BasicLinearProcessNumbered"/>
    <dgm:cxn modelId="{F4F7C82A-73C8-417B-9580-D697AE39445C}" type="presParOf" srcId="{740A986D-8EFC-4947-94F4-82EF439AF7DA}" destId="{3AFB317C-D774-44DD-BC49-939DFC9480D0}" srcOrd="6" destOrd="0" presId="urn:microsoft.com/office/officeart/2016/7/layout/BasicLinearProcessNumbered"/>
    <dgm:cxn modelId="{1BF80616-0F00-4233-862B-4CE22D44A6E3}" type="presParOf" srcId="{3AFB317C-D774-44DD-BC49-939DFC9480D0}" destId="{17DEE432-8E08-401F-8F69-49618D3DF823}" srcOrd="0" destOrd="0" presId="urn:microsoft.com/office/officeart/2016/7/layout/BasicLinearProcessNumbered"/>
    <dgm:cxn modelId="{45B5EAAD-C907-4B78-A622-D39B829208D0}" type="presParOf" srcId="{3AFB317C-D774-44DD-BC49-939DFC9480D0}" destId="{F52F4FBC-ADD7-4791-B62D-389E86897E4C}" srcOrd="1" destOrd="0" presId="urn:microsoft.com/office/officeart/2016/7/layout/BasicLinearProcessNumbered"/>
    <dgm:cxn modelId="{CB34494C-865C-4733-BDE3-1305105F9DB8}" type="presParOf" srcId="{3AFB317C-D774-44DD-BC49-939DFC9480D0}" destId="{2F607A85-1545-46F0-AC43-3D420F5B2DD0}" srcOrd="2" destOrd="0" presId="urn:microsoft.com/office/officeart/2016/7/layout/BasicLinearProcessNumbered"/>
    <dgm:cxn modelId="{00D31EE1-1B8B-4F46-A753-B1A6366911DE}" type="presParOf" srcId="{3AFB317C-D774-44DD-BC49-939DFC9480D0}" destId="{17669324-22F1-45A6-AE72-195252E76A67}" srcOrd="3" destOrd="0" presId="urn:microsoft.com/office/officeart/2016/7/layout/BasicLinearProcessNumbered"/>
    <dgm:cxn modelId="{5713125C-86F8-44AB-958A-BEE3B14F823F}" type="presParOf" srcId="{740A986D-8EFC-4947-94F4-82EF439AF7DA}" destId="{23190948-B9A9-40EB-AB24-F8D5C6FDF2FC}" srcOrd="7" destOrd="0" presId="urn:microsoft.com/office/officeart/2016/7/layout/BasicLinearProcessNumbered"/>
    <dgm:cxn modelId="{872E04D1-D1AA-4018-91E2-B820EA192D5F}" type="presParOf" srcId="{740A986D-8EFC-4947-94F4-82EF439AF7DA}" destId="{36DDD232-10A2-45B3-88EF-4A4FD9FED211}" srcOrd="8" destOrd="0" presId="urn:microsoft.com/office/officeart/2016/7/layout/BasicLinearProcessNumbered"/>
    <dgm:cxn modelId="{34EA9BD9-590C-48DD-9739-8B83C991E2F9}" type="presParOf" srcId="{36DDD232-10A2-45B3-88EF-4A4FD9FED211}" destId="{E06842E6-8C5B-4D40-B3EB-C16A9BF05E39}" srcOrd="0" destOrd="0" presId="urn:microsoft.com/office/officeart/2016/7/layout/BasicLinearProcessNumbered"/>
    <dgm:cxn modelId="{05E3886D-06A9-4AB4-AC40-9C01CE0B3EED}" type="presParOf" srcId="{36DDD232-10A2-45B3-88EF-4A4FD9FED211}" destId="{3AE65489-EBE4-48A3-B15C-8C262DF29445}" srcOrd="1" destOrd="0" presId="urn:microsoft.com/office/officeart/2016/7/layout/BasicLinearProcessNumbered"/>
    <dgm:cxn modelId="{0F3FD51D-C114-45DA-88E4-C9FDC6898F31}" type="presParOf" srcId="{36DDD232-10A2-45B3-88EF-4A4FD9FED211}" destId="{BFE74509-BB2B-4F7A-A947-12FBA5CAB1E2}" srcOrd="2" destOrd="0" presId="urn:microsoft.com/office/officeart/2016/7/layout/BasicLinearProcessNumbered"/>
    <dgm:cxn modelId="{50553E04-ADD3-400C-9F0A-CF652613375C}" type="presParOf" srcId="{36DDD232-10A2-45B3-88EF-4A4FD9FED211}" destId="{165E9D54-41C7-4762-842F-54CB53D2175E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950AE6-3FED-4E7A-929B-C963DA8B6A8A}">
      <dsp:nvSpPr>
        <dsp:cNvPr id="0" name=""/>
        <dsp:cNvSpPr/>
      </dsp:nvSpPr>
      <dsp:spPr>
        <a:xfrm>
          <a:off x="3532" y="694363"/>
          <a:ext cx="1912645" cy="26777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117" tIns="330200" rIns="149117" bIns="3302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Add a signup flow with email-based role verification.</a:t>
          </a:r>
        </a:p>
      </dsp:txBody>
      <dsp:txXfrm>
        <a:off x="3532" y="1711891"/>
        <a:ext cx="1912645" cy="1606622"/>
      </dsp:txXfrm>
    </dsp:sp>
    <dsp:sp modelId="{7E426CB7-AB43-4521-9936-7C30177DBC43}">
      <dsp:nvSpPr>
        <dsp:cNvPr id="0" name=""/>
        <dsp:cNvSpPr/>
      </dsp:nvSpPr>
      <dsp:spPr>
        <a:xfrm>
          <a:off x="558199" y="962134"/>
          <a:ext cx="803311" cy="8033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2629" tIns="12700" rIns="62629" bIns="1270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1</a:t>
          </a:r>
        </a:p>
      </dsp:txBody>
      <dsp:txXfrm>
        <a:off x="675841" y="1079776"/>
        <a:ext cx="568027" cy="568027"/>
      </dsp:txXfrm>
    </dsp:sp>
    <dsp:sp modelId="{6291D6F7-40A6-4813-AA1C-005DDA951279}">
      <dsp:nvSpPr>
        <dsp:cNvPr id="0" name=""/>
        <dsp:cNvSpPr/>
      </dsp:nvSpPr>
      <dsp:spPr>
        <a:xfrm>
          <a:off x="3532" y="3371995"/>
          <a:ext cx="1912645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85A2F6-70BD-437B-8774-CCFF99A3D96E}">
      <dsp:nvSpPr>
        <dsp:cNvPr id="0" name=""/>
        <dsp:cNvSpPr/>
      </dsp:nvSpPr>
      <dsp:spPr>
        <a:xfrm>
          <a:off x="2107442" y="694363"/>
          <a:ext cx="1912645" cy="26777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117" tIns="330200" rIns="149117" bIns="3302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Build a query analytics dashboard to track common user questions.</a:t>
          </a:r>
        </a:p>
      </dsp:txBody>
      <dsp:txXfrm>
        <a:off x="2107442" y="1711891"/>
        <a:ext cx="1912645" cy="1606622"/>
      </dsp:txXfrm>
    </dsp:sp>
    <dsp:sp modelId="{9D6B9AB3-E84D-47E9-B6B0-E4CD1D5FB33C}">
      <dsp:nvSpPr>
        <dsp:cNvPr id="0" name=""/>
        <dsp:cNvSpPr/>
      </dsp:nvSpPr>
      <dsp:spPr>
        <a:xfrm>
          <a:off x="2662109" y="962134"/>
          <a:ext cx="803311" cy="8033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2629" tIns="12700" rIns="62629" bIns="1270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2</a:t>
          </a:r>
        </a:p>
      </dsp:txBody>
      <dsp:txXfrm>
        <a:off x="2779751" y="1079776"/>
        <a:ext cx="568027" cy="568027"/>
      </dsp:txXfrm>
    </dsp:sp>
    <dsp:sp modelId="{5A760993-2BA9-4733-9D68-38F816B93773}">
      <dsp:nvSpPr>
        <dsp:cNvPr id="0" name=""/>
        <dsp:cNvSpPr/>
      </dsp:nvSpPr>
      <dsp:spPr>
        <a:xfrm>
          <a:off x="2107442" y="3371995"/>
          <a:ext cx="1912645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11B680-25C9-4633-A825-6C6412330209}">
      <dsp:nvSpPr>
        <dsp:cNvPr id="0" name=""/>
        <dsp:cNvSpPr/>
      </dsp:nvSpPr>
      <dsp:spPr>
        <a:xfrm>
          <a:off x="4211352" y="694363"/>
          <a:ext cx="1912645" cy="26777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117" tIns="330200" rIns="149117" bIns="3302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Include feedback options (thumbs up/down) for each chatbot response to refine the RAG pipeline.</a:t>
          </a:r>
        </a:p>
      </dsp:txBody>
      <dsp:txXfrm>
        <a:off x="4211352" y="1711891"/>
        <a:ext cx="1912645" cy="1606622"/>
      </dsp:txXfrm>
    </dsp:sp>
    <dsp:sp modelId="{12DA5CDF-DF50-440E-91A4-EAACA828C2DF}">
      <dsp:nvSpPr>
        <dsp:cNvPr id="0" name=""/>
        <dsp:cNvSpPr/>
      </dsp:nvSpPr>
      <dsp:spPr>
        <a:xfrm>
          <a:off x="4766019" y="962134"/>
          <a:ext cx="803311" cy="8033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2629" tIns="12700" rIns="62629" bIns="1270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3</a:t>
          </a:r>
        </a:p>
      </dsp:txBody>
      <dsp:txXfrm>
        <a:off x="4883661" y="1079776"/>
        <a:ext cx="568027" cy="568027"/>
      </dsp:txXfrm>
    </dsp:sp>
    <dsp:sp modelId="{19376BE6-397D-4180-A9F9-325348CFB6FF}">
      <dsp:nvSpPr>
        <dsp:cNvPr id="0" name=""/>
        <dsp:cNvSpPr/>
      </dsp:nvSpPr>
      <dsp:spPr>
        <a:xfrm>
          <a:off x="4211352" y="3371995"/>
          <a:ext cx="1912645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DEE432-8E08-401F-8F69-49618D3DF823}">
      <dsp:nvSpPr>
        <dsp:cNvPr id="0" name=""/>
        <dsp:cNvSpPr/>
      </dsp:nvSpPr>
      <dsp:spPr>
        <a:xfrm>
          <a:off x="6315262" y="694363"/>
          <a:ext cx="1912645" cy="26777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117" tIns="330200" rIns="149117" bIns="3302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Implement query rephrasing if no answer is found (e.g., "Would you like to rephrase your question?").</a:t>
          </a:r>
        </a:p>
      </dsp:txBody>
      <dsp:txXfrm>
        <a:off x="6315262" y="1711891"/>
        <a:ext cx="1912645" cy="1606622"/>
      </dsp:txXfrm>
    </dsp:sp>
    <dsp:sp modelId="{F52F4FBC-ADD7-4791-B62D-389E86897E4C}">
      <dsp:nvSpPr>
        <dsp:cNvPr id="0" name=""/>
        <dsp:cNvSpPr/>
      </dsp:nvSpPr>
      <dsp:spPr>
        <a:xfrm>
          <a:off x="6869929" y="962134"/>
          <a:ext cx="803311" cy="8033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2629" tIns="12700" rIns="62629" bIns="1270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4</a:t>
          </a:r>
        </a:p>
      </dsp:txBody>
      <dsp:txXfrm>
        <a:off x="6987571" y="1079776"/>
        <a:ext cx="568027" cy="568027"/>
      </dsp:txXfrm>
    </dsp:sp>
    <dsp:sp modelId="{2F607A85-1545-46F0-AC43-3D420F5B2DD0}">
      <dsp:nvSpPr>
        <dsp:cNvPr id="0" name=""/>
        <dsp:cNvSpPr/>
      </dsp:nvSpPr>
      <dsp:spPr>
        <a:xfrm>
          <a:off x="6315262" y="3371995"/>
          <a:ext cx="1912645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6842E6-8C5B-4D40-B3EB-C16A9BF05E39}">
      <dsp:nvSpPr>
        <dsp:cNvPr id="0" name=""/>
        <dsp:cNvSpPr/>
      </dsp:nvSpPr>
      <dsp:spPr>
        <a:xfrm>
          <a:off x="8419172" y="694363"/>
          <a:ext cx="1912645" cy="2677703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117" tIns="330200" rIns="149117" bIns="33020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Enable PDF or Excel document ingestion for new departments.</a:t>
          </a:r>
        </a:p>
      </dsp:txBody>
      <dsp:txXfrm>
        <a:off x="8419172" y="1711891"/>
        <a:ext cx="1912645" cy="1606622"/>
      </dsp:txXfrm>
    </dsp:sp>
    <dsp:sp modelId="{3AE65489-EBE4-48A3-B15C-8C262DF29445}">
      <dsp:nvSpPr>
        <dsp:cNvPr id="0" name=""/>
        <dsp:cNvSpPr/>
      </dsp:nvSpPr>
      <dsp:spPr>
        <a:xfrm>
          <a:off x="8973839" y="962134"/>
          <a:ext cx="803311" cy="803311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2629" tIns="12700" rIns="62629" bIns="1270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5</a:t>
          </a:r>
        </a:p>
      </dsp:txBody>
      <dsp:txXfrm>
        <a:off x="9091481" y="1079776"/>
        <a:ext cx="568027" cy="568027"/>
      </dsp:txXfrm>
    </dsp:sp>
    <dsp:sp modelId="{BFE74509-BB2B-4F7A-A947-12FBA5CAB1E2}">
      <dsp:nvSpPr>
        <dsp:cNvPr id="0" name=""/>
        <dsp:cNvSpPr/>
      </dsp:nvSpPr>
      <dsp:spPr>
        <a:xfrm>
          <a:off x="8419172" y="3371995"/>
          <a:ext cx="1912645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E8075-9032-C65C-9CC1-9C97CB3C5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7B7DF2-FA78-0D66-B918-3DCE9A11C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C1C05-D6ED-5A97-C980-1717DFE9D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59345-0644-F3C8-8AB0-C79C0E632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EAA82C-B3EA-7C65-CEF7-D8F9B6802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023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0F310-F5DD-B392-89F9-5D66E155C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54AC8-CEFD-1B8C-8D7F-032936F8E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E37819-E918-811D-4453-774C033E4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7D0BDB-D4B9-6595-6EED-728712BA5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8517F8-2303-DC41-56B1-CABC2ECC4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93108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2614B-B6EB-1786-CF43-E81C9790D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6A422-2E1F-75E0-7323-392D5AD9B9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ED0F5F-2DFF-DF99-AB72-084DCF2A3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ACEE3A-3464-BBA1-0753-B0E69E7CE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5AC31-38F7-3EA6-5B2A-F8B9924A1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2569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7FF6C-D509-D844-6F25-A92C49F6A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0770A-6904-D54F-BFF4-47078C4EB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8DF331-3843-054E-DDC8-5F69701AF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639C40-84A7-360A-F0ED-2230D6026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F41CB-A72C-5D2E-FA8A-AB3EF7041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A4AA2-E138-A8E7-FBD5-4E84B2927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077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00BA5-410D-7FA0-4715-BD1958F58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8E2F96-259D-A4DB-73E3-F5139456C4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3728E5-DED6-7378-4BDF-44984220AC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5E16E1-A01D-3326-2214-EDC1EA55FC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B0E75A-2CD6-040C-7455-AAC69F681D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B7F160-9516-9B5A-A11A-5ADDE5FD0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9EFC25-A42D-B9DA-4936-5452E94F2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41CDAF-55F7-E58A-98B9-52DE25D5A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9692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C53B5-9DF3-2294-4907-83C40C75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B57BBF-19D1-DA92-582C-9027FD067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5ACD68-55A9-2DD7-D5C1-58BE72342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05D989-0756-BBF3-E852-6C3ADA557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02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CEC274E-392B-8293-9EBB-801349F64F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6E736D-F285-402E-57BC-33214C4AB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EB945-F02C-8215-5440-7B7ECC6D7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105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9D116-7895-5CB3-3195-7CC71BBB1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1B5767-873C-35EB-EA0E-880CCE7C74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EB3E16-521F-D260-1FA8-CC2FC99290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F066A2-2887-B82C-9287-5ACDB0CF3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D73CB5-FED3-8E83-0648-7A2FFB66F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DDDFAE-A8D0-6080-8FDA-6F8880A98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2951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E8E57-4BD7-AE05-8D2A-CF5D098AF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468565-D44D-5A12-8CDB-47B013E41D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B18187-8DC8-E3E9-8948-620BA5835F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F1F069-06B2-6A39-CC9D-EBAE42D06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6BC4CE-AC84-507E-703E-28A2F7A9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75BFF4-DC54-1569-0BBD-19E30CBA4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3136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850A8-CB29-2838-4CA0-4146B3518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BBE1E1-AF45-EC6E-DD9A-AE789AB613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69F30-6D0A-4B75-2382-F5C0342D7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896E5-EFE8-12E4-EDF9-6BD7EAB23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D570C-7FCE-E548-622C-B945A88BF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2244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A7659C-826C-E063-CBAB-E9D737CA30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DA26F9-EB4C-BD04-F881-88E95D8B4A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EE94D8-4F7E-8BFC-813E-7D7E59497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AC6B9-2151-E1D9-57A9-1BE9122AF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5F6D0-6A44-CCD3-4C7D-0C237E7D3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6635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939156-A7D5-F0C1-D6BA-993DA022E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F6D241-AD42-7529-DF03-5DE6EBAB0F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FC949B-08DE-A418-12DA-2FC9A2AEA7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2003DF-B299-4423-B4E8-0FB7E74AF400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EDB16-983A-3429-D28C-DEA501DF62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392E4F-C8E9-1C28-D64D-14B47EC1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57BCD1-FAA3-4EC4-B6EF-73D8477E45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3757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3631C-AF87-0900-FB96-1D4B840CC3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N" sz="6600" b="1" dirty="0">
                <a:solidFill>
                  <a:srgbClr val="6679D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FinsightAI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320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Role-based AI Assistant for Departmental Insights</a:t>
            </a:r>
            <a:endParaRPr lang="en-IN" dirty="0">
              <a:solidFill>
                <a:schemeClr val="tx2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2017BD-453B-78FF-19C6-1652445CA1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725" y="5123793"/>
            <a:ext cx="3379076" cy="953814"/>
          </a:xfrm>
        </p:spPr>
        <p:txBody>
          <a:bodyPr/>
          <a:lstStyle/>
          <a:p>
            <a:r>
              <a:rPr lang="en-IN" b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Created By:</a:t>
            </a:r>
          </a:p>
          <a:p>
            <a:r>
              <a:rPr lang="en-IN" b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Sakthi Kalyani K</a:t>
            </a:r>
            <a:endParaRPr lang="en-IN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BB3EB78E-842D-BA25-F256-FF7B220CE344}"/>
              </a:ext>
            </a:extLst>
          </p:cNvPr>
          <p:cNvSpPr/>
          <p:nvPr/>
        </p:nvSpPr>
        <p:spPr>
          <a:xfrm>
            <a:off x="-853440" y="-929640"/>
            <a:ext cx="13914120" cy="8793480"/>
          </a:xfrm>
          <a:prstGeom prst="frame">
            <a:avLst/>
          </a:prstGeom>
          <a:gradFill flip="none" rotWithShape="1">
            <a:gsLst>
              <a:gs pos="100000">
                <a:schemeClr val="accent1">
                  <a:lumMod val="40000"/>
                  <a:lumOff val="60000"/>
                </a:schemeClr>
              </a:gs>
              <a:gs pos="70000">
                <a:schemeClr val="tx2">
                  <a:lumMod val="25000"/>
                  <a:lumOff val="75000"/>
                </a:schemeClr>
              </a:gs>
              <a:gs pos="0">
                <a:srgbClr val="0070C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8954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999D1-22BC-B5CD-3005-09894704F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9859"/>
            <a:ext cx="10515600" cy="619613"/>
          </a:xfrm>
        </p:spPr>
        <p:txBody>
          <a:bodyPr>
            <a:normAutofit fontScale="90000"/>
          </a:bodyPr>
          <a:lstStyle/>
          <a:p>
            <a:r>
              <a:rPr lang="en-IN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8B6827-6DD0-F8E0-0A30-B611D8B522BF}"/>
              </a:ext>
            </a:extLst>
          </p:cNvPr>
          <p:cNvSpPr/>
          <p:nvPr/>
        </p:nvSpPr>
        <p:spPr>
          <a:xfrm>
            <a:off x="937366" y="874207"/>
            <a:ext cx="10741688" cy="55265"/>
          </a:xfrm>
          <a:prstGeom prst="rect">
            <a:avLst/>
          </a:prstGeom>
          <a:solidFill>
            <a:srgbClr val="462EF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2B0CB3-48D6-58A7-17AA-C099AC70AD69}"/>
              </a:ext>
            </a:extLst>
          </p:cNvPr>
          <p:cNvSpPr txBox="1"/>
          <p:nvPr/>
        </p:nvSpPr>
        <p:spPr>
          <a:xfrm>
            <a:off x="937366" y="1353659"/>
            <a:ext cx="5158634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 Challenges: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Employees struggle to find relevant documents quickly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Inefficiencies in decision-making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centralized access control for different departments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wasted searching through irrelevant documents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of unauthorized access to confidential data</a:t>
            </a: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6CE4E4F7-AAAB-146E-0B98-10BA36C880E5}"/>
              </a:ext>
            </a:extLst>
          </p:cNvPr>
          <p:cNvSpPr/>
          <p:nvPr/>
        </p:nvSpPr>
        <p:spPr>
          <a:xfrm>
            <a:off x="-853440" y="-929640"/>
            <a:ext cx="13914120" cy="8793480"/>
          </a:xfrm>
          <a:prstGeom prst="frame">
            <a:avLst/>
          </a:prstGeom>
          <a:gradFill flip="none" rotWithShape="1">
            <a:gsLst>
              <a:gs pos="100000">
                <a:schemeClr val="accent1">
                  <a:lumMod val="40000"/>
                  <a:lumOff val="60000"/>
                </a:schemeClr>
              </a:gs>
              <a:gs pos="70000">
                <a:schemeClr val="tx2">
                  <a:lumMod val="25000"/>
                  <a:lumOff val="75000"/>
                </a:schemeClr>
              </a:gs>
              <a:gs pos="0">
                <a:srgbClr val="0070C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27626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72E31-AEDE-1E8C-49A2-22A2259BD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7366" y="221577"/>
            <a:ext cx="10515600" cy="707895"/>
          </a:xfrm>
        </p:spPr>
        <p:txBody>
          <a:bodyPr/>
          <a:lstStyle/>
          <a:p>
            <a:r>
              <a:rPr lang="en-IN" sz="40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Solution Overview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3EF26D-0B3D-7D03-169D-4704613F7261}"/>
              </a:ext>
            </a:extLst>
          </p:cNvPr>
          <p:cNvSpPr/>
          <p:nvPr/>
        </p:nvSpPr>
        <p:spPr>
          <a:xfrm>
            <a:off x="937366" y="874207"/>
            <a:ext cx="10741688" cy="55265"/>
          </a:xfrm>
          <a:prstGeom prst="rect">
            <a:avLst/>
          </a:prstGeom>
          <a:solidFill>
            <a:srgbClr val="462EF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19FDF5A-0391-0673-E394-7686685AC78E}"/>
              </a:ext>
            </a:extLst>
          </p:cNvPr>
          <p:cNvSpPr/>
          <p:nvPr/>
        </p:nvSpPr>
        <p:spPr>
          <a:xfrm>
            <a:off x="1789922" y="1066801"/>
            <a:ext cx="8297053" cy="2209800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tx2">
                  <a:lumMod val="10000"/>
                  <a:lumOff val="90000"/>
                </a:schemeClr>
              </a:gs>
              <a:gs pos="28000">
                <a:schemeClr val="accent5">
                  <a:lumMod val="20000"/>
                  <a:lumOff val="80000"/>
                </a:schemeClr>
              </a:gs>
              <a:gs pos="100000">
                <a:schemeClr val="tx2">
                  <a:lumMod val="10000"/>
                  <a:lumOff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u="sng" dirty="0">
                <a:solidFill>
                  <a:schemeClr val="tx1"/>
                </a:solidFill>
              </a:rPr>
              <a:t>Intelligent Role-Based Document Chatbot</a:t>
            </a:r>
          </a:p>
          <a:p>
            <a:r>
              <a:rPr lang="en-IN" dirty="0">
                <a:solidFill>
                  <a:schemeClr val="tx1"/>
                </a:solidFill>
              </a:rPr>
              <a:t>A secure, AI-powered chatbot using: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tx1"/>
                </a:solidFill>
              </a:rPr>
              <a:t>RAG (Retrieval-Augmented Generation)</a:t>
            </a:r>
            <a:r>
              <a:rPr lang="en-IN" dirty="0">
                <a:solidFill>
                  <a:schemeClr val="tx1"/>
                </a:solidFill>
              </a:rPr>
              <a:t> for contextual responses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tx1"/>
                </a:solidFill>
              </a:rPr>
              <a:t>Role-Based Access Control (RBAC)</a:t>
            </a:r>
            <a:r>
              <a:rPr lang="en-IN" dirty="0">
                <a:solidFill>
                  <a:schemeClr val="tx1"/>
                </a:solidFill>
              </a:rPr>
              <a:t> for secure data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tx1"/>
                </a:solidFill>
              </a:rPr>
              <a:t>Instant access to role-specific insights</a:t>
            </a:r>
            <a:r>
              <a:rPr lang="en-IN" dirty="0">
                <a:solidFill>
                  <a:schemeClr val="tx1"/>
                </a:solidFill>
              </a:rPr>
              <a:t> across departments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tx1"/>
                </a:solidFill>
              </a:rPr>
              <a:t>Uses both CSV and document data</a:t>
            </a:r>
            <a:r>
              <a:rPr lang="en-IN" dirty="0">
                <a:solidFill>
                  <a:schemeClr val="tx1"/>
                </a:solidFill>
              </a:rPr>
              <a:t> for comprehensive coverage</a:t>
            </a:r>
          </a:p>
          <a:p>
            <a:pPr algn="ctr"/>
            <a:endParaRPr lang="en-IN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B98115-46D2-DFDD-010A-D403FA76A09F}"/>
              </a:ext>
            </a:extLst>
          </p:cNvPr>
          <p:cNvGrpSpPr/>
          <p:nvPr/>
        </p:nvGrpSpPr>
        <p:grpSpPr>
          <a:xfrm>
            <a:off x="1789922" y="3467100"/>
            <a:ext cx="8213391" cy="2324099"/>
            <a:chOff x="937366" y="3524249"/>
            <a:chExt cx="8213391" cy="2324099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CE71401-AB73-990B-FE5C-3DF8162CF248}"/>
                </a:ext>
              </a:extLst>
            </p:cNvPr>
            <p:cNvSpPr/>
            <p:nvPr/>
          </p:nvSpPr>
          <p:spPr>
            <a:xfrm>
              <a:off x="937366" y="3524249"/>
              <a:ext cx="2434484" cy="2266949"/>
            </a:xfrm>
            <a:prstGeom prst="roundRect">
              <a:avLst/>
            </a:prstGeom>
            <a:gradFill>
              <a:gsLst>
                <a:gs pos="0">
                  <a:schemeClr val="accent5">
                    <a:lumMod val="40000"/>
                    <a:lumOff val="60000"/>
                  </a:schemeClr>
                </a:gs>
                <a:gs pos="28000">
                  <a:schemeClr val="accent5">
                    <a:lumMod val="60000"/>
                    <a:lumOff val="40000"/>
                  </a:schemeClr>
                </a:gs>
                <a:gs pos="100000">
                  <a:schemeClr val="accent5">
                    <a:lumMod val="75000"/>
                  </a:schemeClr>
                </a:gs>
              </a:gsLst>
              <a:path path="circle">
                <a:fillToRect l="100000" t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b="1" dirty="0"/>
                <a:t>🔐 Secure Access</a:t>
              </a:r>
            </a:p>
            <a:p>
              <a:r>
                <a:rPr lang="en-US" dirty="0"/>
                <a:t>Role-based authentication ensures users only access authorized information</a:t>
              </a:r>
            </a:p>
            <a:p>
              <a:pPr algn="ctr"/>
              <a:endParaRPr lang="en-IN" dirty="0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63B663D0-9B2F-7FE9-1802-135C1918B220}"/>
                </a:ext>
              </a:extLst>
            </p:cNvPr>
            <p:cNvSpPr/>
            <p:nvPr/>
          </p:nvSpPr>
          <p:spPr>
            <a:xfrm>
              <a:off x="3872396" y="3552822"/>
              <a:ext cx="2434484" cy="2266949"/>
            </a:xfrm>
            <a:prstGeom prst="roundRect">
              <a:avLst/>
            </a:prstGeom>
            <a:gradFill>
              <a:gsLst>
                <a:gs pos="0">
                  <a:schemeClr val="accent5">
                    <a:lumMod val="40000"/>
                    <a:lumOff val="60000"/>
                  </a:schemeClr>
                </a:gs>
                <a:gs pos="28000">
                  <a:schemeClr val="accent5">
                    <a:lumMod val="60000"/>
                    <a:lumOff val="40000"/>
                  </a:schemeClr>
                </a:gs>
                <a:gs pos="100000">
                  <a:schemeClr val="accent5">
                    <a:lumMod val="75000"/>
                  </a:schemeClr>
                </a:gs>
              </a:gsLst>
              <a:path path="circle">
                <a:fillToRect l="100000" t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IN" b="1" dirty="0"/>
                <a:t>🤖 AI-Powered</a:t>
              </a:r>
            </a:p>
            <a:p>
              <a:r>
                <a:rPr lang="en-IN" dirty="0"/>
                <a:t>Natural language processing for intuitive document queries</a:t>
              </a:r>
            </a:p>
            <a:p>
              <a:pPr algn="ctr"/>
              <a:endParaRPr lang="en-IN" dirty="0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2B0FC118-6E9E-BC9D-FA23-04342BE245B1}"/>
                </a:ext>
              </a:extLst>
            </p:cNvPr>
            <p:cNvSpPr/>
            <p:nvPr/>
          </p:nvSpPr>
          <p:spPr>
            <a:xfrm>
              <a:off x="6716273" y="3581399"/>
              <a:ext cx="2434484" cy="2266949"/>
            </a:xfrm>
            <a:prstGeom prst="roundRect">
              <a:avLst/>
            </a:prstGeom>
            <a:gradFill>
              <a:gsLst>
                <a:gs pos="0">
                  <a:schemeClr val="accent5">
                    <a:lumMod val="40000"/>
                    <a:lumOff val="60000"/>
                  </a:schemeClr>
                </a:gs>
                <a:gs pos="28000">
                  <a:schemeClr val="accent5">
                    <a:lumMod val="60000"/>
                    <a:lumOff val="40000"/>
                  </a:schemeClr>
                </a:gs>
                <a:gs pos="100000">
                  <a:schemeClr val="accent5">
                    <a:lumMod val="75000"/>
                  </a:schemeClr>
                </a:gs>
              </a:gsLst>
              <a:path path="circle">
                <a:fillToRect l="100000" t="10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b="1" dirty="0"/>
                <a:t>📊 Smart Retrieval</a:t>
              </a:r>
            </a:p>
            <a:p>
              <a:r>
                <a:rPr lang="en-US" dirty="0"/>
                <a:t>RAG technology provides contextual, accurate responses from CSV and document data with source references</a:t>
              </a:r>
            </a:p>
            <a:p>
              <a:pPr algn="ctr"/>
              <a:endParaRPr lang="en-IN" dirty="0"/>
            </a:p>
          </p:txBody>
        </p:sp>
      </p:grpSp>
      <p:sp>
        <p:nvSpPr>
          <p:cNvPr id="18" name="Frame 17">
            <a:extLst>
              <a:ext uri="{FF2B5EF4-FFF2-40B4-BE49-F238E27FC236}">
                <a16:creationId xmlns:a16="http://schemas.microsoft.com/office/drawing/2014/main" id="{68574BC7-DBC8-418B-24A6-F00F0306D453}"/>
              </a:ext>
            </a:extLst>
          </p:cNvPr>
          <p:cNvSpPr/>
          <p:nvPr/>
        </p:nvSpPr>
        <p:spPr>
          <a:xfrm>
            <a:off x="-853440" y="-929640"/>
            <a:ext cx="13914120" cy="8793480"/>
          </a:xfrm>
          <a:prstGeom prst="frame">
            <a:avLst/>
          </a:prstGeom>
          <a:gradFill flip="none" rotWithShape="1">
            <a:gsLst>
              <a:gs pos="100000">
                <a:schemeClr val="accent1">
                  <a:lumMod val="40000"/>
                  <a:lumOff val="60000"/>
                </a:schemeClr>
              </a:gs>
              <a:gs pos="70000">
                <a:schemeClr val="tx2">
                  <a:lumMod val="25000"/>
                  <a:lumOff val="75000"/>
                </a:schemeClr>
              </a:gs>
              <a:gs pos="0">
                <a:srgbClr val="0070C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3910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88159-F5BE-8399-A57C-A406AF8D4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120"/>
            <a:ext cx="10515600" cy="899775"/>
          </a:xfrm>
        </p:spPr>
        <p:txBody>
          <a:bodyPr/>
          <a:lstStyle/>
          <a:p>
            <a:r>
              <a:rPr lang="en-IN" sz="40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 Stack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9CFB594-41AF-8C3A-097B-832DD2AC70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853916"/>
              </p:ext>
            </p:extLst>
          </p:nvPr>
        </p:nvGraphicFramePr>
        <p:xfrm>
          <a:off x="2824480" y="1534160"/>
          <a:ext cx="5389182" cy="356616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920827089"/>
                    </a:ext>
                  </a:extLst>
                </a:gridCol>
                <a:gridCol w="3286062">
                  <a:extLst>
                    <a:ext uri="{9D8B030D-6E8A-4147-A177-3AD203B41FA5}">
                      <a16:colId xmlns:a16="http://schemas.microsoft.com/office/drawing/2014/main" val="10564803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IN" sz="2400" b="1" dirty="0"/>
                        <a:t>Component</a:t>
                      </a:r>
                      <a:endParaRPr lang="en-I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2400" b="1" dirty="0"/>
                        <a:t>Technology</a:t>
                      </a:r>
                      <a:endParaRPr lang="en-IN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7570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400"/>
                        <a:t>Frontend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2400"/>
                        <a:t>Streamlit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782261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400"/>
                        <a:t>Backend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2400"/>
                        <a:t>FastAPI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4218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400"/>
                        <a:t>LLM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OpenAI GPT-4o-mini</a:t>
                      </a:r>
                      <a:endParaRPr lang="en-IN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6864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400"/>
                        <a:t>Vector Store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2400" dirty="0" err="1"/>
                        <a:t>ChromaDB</a:t>
                      </a:r>
                      <a:endParaRPr lang="en-IN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10051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400"/>
                        <a:t>CSV Handling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2400"/>
                        <a:t>LangChain + Pandas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3688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IN" sz="2400"/>
                        <a:t>Embedding</a:t>
                      </a:r>
                      <a:endParaRPr lang="en-IN" sz="24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IN" sz="2400" dirty="0"/>
                        <a:t>text-embedding-3-small</a:t>
                      </a:r>
                      <a:endParaRPr lang="en-IN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98753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D6B88D2C-A73C-9C51-189C-A0C84A70912F}"/>
              </a:ext>
            </a:extLst>
          </p:cNvPr>
          <p:cNvSpPr/>
          <p:nvPr/>
        </p:nvSpPr>
        <p:spPr>
          <a:xfrm>
            <a:off x="937366" y="874207"/>
            <a:ext cx="10741688" cy="55265"/>
          </a:xfrm>
          <a:prstGeom prst="rect">
            <a:avLst/>
          </a:prstGeom>
          <a:solidFill>
            <a:srgbClr val="462EF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2C335B11-1BDB-B181-A783-A5D17988CE27}"/>
              </a:ext>
            </a:extLst>
          </p:cNvPr>
          <p:cNvSpPr/>
          <p:nvPr/>
        </p:nvSpPr>
        <p:spPr>
          <a:xfrm>
            <a:off x="-853440" y="-929640"/>
            <a:ext cx="13914120" cy="8793480"/>
          </a:xfrm>
          <a:prstGeom prst="frame">
            <a:avLst/>
          </a:prstGeom>
          <a:gradFill flip="none" rotWithShape="1">
            <a:gsLst>
              <a:gs pos="100000">
                <a:schemeClr val="accent1">
                  <a:lumMod val="40000"/>
                  <a:lumOff val="60000"/>
                </a:schemeClr>
              </a:gs>
              <a:gs pos="70000">
                <a:schemeClr val="tx2">
                  <a:lumMod val="25000"/>
                  <a:lumOff val="75000"/>
                </a:schemeClr>
              </a:gs>
              <a:gs pos="0">
                <a:srgbClr val="0070C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4965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17B4-6404-393F-675B-27E0FA236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7366" y="237322"/>
            <a:ext cx="10515600" cy="692150"/>
          </a:xfrm>
        </p:spPr>
        <p:txBody>
          <a:bodyPr>
            <a:normAutofit fontScale="90000"/>
          </a:bodyPr>
          <a:lstStyle/>
          <a:p>
            <a:r>
              <a:rPr lang="en-IN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</a:p>
        </p:txBody>
      </p:sp>
      <p:sp>
        <p:nvSpPr>
          <p:cNvPr id="4" name="Frame 3">
            <a:extLst>
              <a:ext uri="{FF2B5EF4-FFF2-40B4-BE49-F238E27FC236}">
                <a16:creationId xmlns:a16="http://schemas.microsoft.com/office/drawing/2014/main" id="{34AB1DAB-1463-42CE-A661-BA606ADE4995}"/>
              </a:ext>
            </a:extLst>
          </p:cNvPr>
          <p:cNvSpPr/>
          <p:nvPr/>
        </p:nvSpPr>
        <p:spPr>
          <a:xfrm>
            <a:off x="-990599" y="-929640"/>
            <a:ext cx="14165424" cy="8793480"/>
          </a:xfrm>
          <a:prstGeom prst="frame">
            <a:avLst/>
          </a:prstGeom>
          <a:gradFill flip="none" rotWithShape="1">
            <a:gsLst>
              <a:gs pos="100000">
                <a:schemeClr val="accent1">
                  <a:lumMod val="40000"/>
                  <a:lumOff val="60000"/>
                </a:schemeClr>
              </a:gs>
              <a:gs pos="70000">
                <a:schemeClr val="tx2">
                  <a:lumMod val="25000"/>
                  <a:lumOff val="75000"/>
                </a:schemeClr>
              </a:gs>
              <a:gs pos="0">
                <a:srgbClr val="0070C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B95A2-A6A4-49D3-4452-9F435E255E99}"/>
              </a:ext>
            </a:extLst>
          </p:cNvPr>
          <p:cNvSpPr/>
          <p:nvPr/>
        </p:nvSpPr>
        <p:spPr>
          <a:xfrm>
            <a:off x="937366" y="874207"/>
            <a:ext cx="10741688" cy="55265"/>
          </a:xfrm>
          <a:prstGeom prst="rect">
            <a:avLst/>
          </a:prstGeom>
          <a:solidFill>
            <a:srgbClr val="462EF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F8B4A04-B517-ECAD-128E-14F59F157AC6}"/>
              </a:ext>
            </a:extLst>
          </p:cNvPr>
          <p:cNvGrpSpPr/>
          <p:nvPr/>
        </p:nvGrpSpPr>
        <p:grpSpPr>
          <a:xfrm>
            <a:off x="257476" y="1246202"/>
            <a:ext cx="2454442" cy="845150"/>
            <a:chOff x="737937" y="1251284"/>
            <a:chExt cx="2454442" cy="845150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FF936DC1-61FF-D9A3-95E7-662D14E40E91}"/>
                </a:ext>
              </a:extLst>
            </p:cNvPr>
            <p:cNvSpPr/>
            <p:nvPr/>
          </p:nvSpPr>
          <p:spPr>
            <a:xfrm>
              <a:off x="737937" y="1251284"/>
              <a:ext cx="1828800" cy="845150"/>
            </a:xfrm>
            <a:prstGeom prst="roundRect">
              <a:avLst/>
            </a:prstGeom>
            <a:solidFill>
              <a:srgbClr val="6679D8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Data Preparation Trigger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2F5F41AF-6410-6EC0-8A08-4732F871DBDA}"/>
                </a:ext>
              </a:extLst>
            </p:cNvPr>
            <p:cNvSpPr/>
            <p:nvPr/>
          </p:nvSpPr>
          <p:spPr>
            <a:xfrm>
              <a:off x="2630906" y="1574533"/>
              <a:ext cx="561473" cy="45719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FF3B04-6ABF-0CD1-99A9-2889D46D5F24}"/>
              </a:ext>
            </a:extLst>
          </p:cNvPr>
          <p:cNvSpPr/>
          <p:nvPr/>
        </p:nvSpPr>
        <p:spPr>
          <a:xfrm>
            <a:off x="5261811" y="1251284"/>
            <a:ext cx="1828800" cy="84515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Chunking Documents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A67315D-B3C0-8BD1-C21D-1B6326E83323}"/>
              </a:ext>
            </a:extLst>
          </p:cNvPr>
          <p:cNvSpPr/>
          <p:nvPr/>
        </p:nvSpPr>
        <p:spPr>
          <a:xfrm>
            <a:off x="2778493" y="1246202"/>
            <a:ext cx="1828800" cy="84515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Markdown to Plain Text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B339ED06-185E-7F60-91C8-310D39DE04B2}"/>
              </a:ext>
            </a:extLst>
          </p:cNvPr>
          <p:cNvSpPr/>
          <p:nvPr/>
        </p:nvSpPr>
        <p:spPr>
          <a:xfrm>
            <a:off x="4668253" y="1543497"/>
            <a:ext cx="561473" cy="4571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980BEA0-9506-49A5-F786-86B9454C8070}"/>
              </a:ext>
            </a:extLst>
          </p:cNvPr>
          <p:cNvGrpSpPr/>
          <p:nvPr/>
        </p:nvGrpSpPr>
        <p:grpSpPr>
          <a:xfrm>
            <a:off x="7746387" y="1246202"/>
            <a:ext cx="2423962" cy="845150"/>
            <a:chOff x="737937" y="1251284"/>
            <a:chExt cx="2423962" cy="845150"/>
          </a:xfrm>
          <a:solidFill>
            <a:schemeClr val="accent2">
              <a:lumMod val="75000"/>
            </a:schemeClr>
          </a:solidFill>
        </p:grpSpPr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A7B36372-6D81-1730-F3CA-11BF38243E35}"/>
                </a:ext>
              </a:extLst>
            </p:cNvPr>
            <p:cNvSpPr/>
            <p:nvPr/>
          </p:nvSpPr>
          <p:spPr>
            <a:xfrm>
              <a:off x="737937" y="1251284"/>
              <a:ext cx="1828800" cy="845150"/>
            </a:xfrm>
            <a:prstGeom prst="round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/>
                <a:t>Embedding Chunks</a:t>
              </a:r>
            </a:p>
          </p:txBody>
        </p:sp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5E7AEF11-EC39-78B0-B6BC-DC998C1D8354}"/>
                </a:ext>
              </a:extLst>
            </p:cNvPr>
            <p:cNvSpPr/>
            <p:nvPr/>
          </p:nvSpPr>
          <p:spPr>
            <a:xfrm>
              <a:off x="2600426" y="1635493"/>
              <a:ext cx="561473" cy="45719"/>
            </a:xfrm>
            <a:prstGeom prst="rightArrow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0C04968-A419-F63D-C53A-CD775F1221C1}"/>
              </a:ext>
            </a:extLst>
          </p:cNvPr>
          <p:cNvSpPr/>
          <p:nvPr/>
        </p:nvSpPr>
        <p:spPr>
          <a:xfrm>
            <a:off x="7146332" y="1589216"/>
            <a:ext cx="561473" cy="4571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19D3176-B6D0-2368-B00C-46539B974213}"/>
              </a:ext>
            </a:extLst>
          </p:cNvPr>
          <p:cNvSpPr/>
          <p:nvPr/>
        </p:nvSpPr>
        <p:spPr>
          <a:xfrm>
            <a:off x="10208556" y="1253555"/>
            <a:ext cx="1828800" cy="845150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Store in Chroma DB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FCCC0E0-8A0A-26AC-8BFC-1118C891BDC4}"/>
              </a:ext>
            </a:extLst>
          </p:cNvPr>
          <p:cNvSpPr/>
          <p:nvPr/>
        </p:nvSpPr>
        <p:spPr>
          <a:xfrm>
            <a:off x="257476" y="2408082"/>
            <a:ext cx="1828800" cy="845150"/>
          </a:xfrm>
          <a:prstGeom prst="roundRect">
            <a:avLst/>
          </a:prstGeom>
          <a:solidFill>
            <a:srgbClr val="6679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User Opens app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DBE10F0-867E-1180-4757-6A51B0038DE8}"/>
              </a:ext>
            </a:extLst>
          </p:cNvPr>
          <p:cNvSpPr/>
          <p:nvPr/>
        </p:nvSpPr>
        <p:spPr>
          <a:xfrm>
            <a:off x="2713385" y="2201253"/>
            <a:ext cx="1536604" cy="53007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User enters credentials</a:t>
            </a:r>
          </a:p>
        </p:txBody>
      </p:sp>
      <p:sp>
        <p:nvSpPr>
          <p:cNvPr id="30" name="Flowchart: Preparation 29">
            <a:extLst>
              <a:ext uri="{FF2B5EF4-FFF2-40B4-BE49-F238E27FC236}">
                <a16:creationId xmlns:a16="http://schemas.microsoft.com/office/drawing/2014/main" id="{18D62AB1-72CC-020A-3797-D0013E433321}"/>
              </a:ext>
            </a:extLst>
          </p:cNvPr>
          <p:cNvSpPr/>
          <p:nvPr/>
        </p:nvSpPr>
        <p:spPr>
          <a:xfrm>
            <a:off x="4534678" y="2564984"/>
            <a:ext cx="2248677" cy="584392"/>
          </a:xfrm>
          <a:prstGeom prst="flowChartPrepara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Valid Credentials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91938CA-DDAD-0C6E-4316-B4CB8AAC3150}"/>
              </a:ext>
            </a:extLst>
          </p:cNvPr>
          <p:cNvSpPr/>
          <p:nvPr/>
        </p:nvSpPr>
        <p:spPr>
          <a:xfrm>
            <a:off x="7310795" y="2352442"/>
            <a:ext cx="1693246" cy="100947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Return User Role and store in session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D495F000-7D53-B6DE-B420-2EB5DD325431}"/>
              </a:ext>
            </a:extLst>
          </p:cNvPr>
          <p:cNvSpPr/>
          <p:nvPr/>
        </p:nvSpPr>
        <p:spPr>
          <a:xfrm>
            <a:off x="9352547" y="2352441"/>
            <a:ext cx="1536604" cy="100947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Show chat interface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6A84A5D3-5A87-7141-5C44-5702829A9799}"/>
              </a:ext>
            </a:extLst>
          </p:cNvPr>
          <p:cNvSpPr/>
          <p:nvPr/>
        </p:nvSpPr>
        <p:spPr>
          <a:xfrm>
            <a:off x="8089641" y="3714071"/>
            <a:ext cx="1828800" cy="84515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Forward Query and Role to RAG Service</a:t>
            </a:r>
          </a:p>
        </p:txBody>
      </p:sp>
      <p:sp>
        <p:nvSpPr>
          <p:cNvPr id="35" name="Diamond 34">
            <a:extLst>
              <a:ext uri="{FF2B5EF4-FFF2-40B4-BE49-F238E27FC236}">
                <a16:creationId xmlns:a16="http://schemas.microsoft.com/office/drawing/2014/main" id="{8491DB97-6467-92D7-84A0-1F4DEAEF2D86}"/>
              </a:ext>
            </a:extLst>
          </p:cNvPr>
          <p:cNvSpPr/>
          <p:nvPr/>
        </p:nvSpPr>
        <p:spPr>
          <a:xfrm>
            <a:off x="5977976" y="3412743"/>
            <a:ext cx="1768411" cy="1415293"/>
          </a:xfrm>
          <a:prstGeom prst="diamond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CSV file exists?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2177A7B-7D8A-DE2E-08C8-5A71CBC6A01F}"/>
              </a:ext>
            </a:extLst>
          </p:cNvPr>
          <p:cNvSpPr/>
          <p:nvPr/>
        </p:nvSpPr>
        <p:spPr>
          <a:xfrm>
            <a:off x="4004119" y="4271405"/>
            <a:ext cx="1828800" cy="84515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Search </a:t>
            </a:r>
            <a:r>
              <a:rPr lang="en-IN" dirty="0" err="1"/>
              <a:t>ChromaDB</a:t>
            </a:r>
            <a:r>
              <a:rPr lang="en-IN" dirty="0"/>
              <a:t> for relevant chunks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EBAD6B6-EE47-545E-1B4B-2B716AEA9F68}"/>
              </a:ext>
            </a:extLst>
          </p:cNvPr>
          <p:cNvSpPr/>
          <p:nvPr/>
        </p:nvSpPr>
        <p:spPr>
          <a:xfrm>
            <a:off x="4021010" y="3363133"/>
            <a:ext cx="1768410" cy="7434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Use Pandas Agent for answers</a:t>
            </a:r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A0BACAF1-83B0-65C7-341D-7C4512A2994B}"/>
              </a:ext>
            </a:extLst>
          </p:cNvPr>
          <p:cNvCxnSpPr>
            <a:stCxn id="27" idx="3"/>
            <a:endCxn id="28" idx="1"/>
          </p:cNvCxnSpPr>
          <p:nvPr/>
        </p:nvCxnSpPr>
        <p:spPr>
          <a:xfrm flipV="1">
            <a:off x="2086276" y="2466292"/>
            <a:ext cx="627109" cy="36436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C3EAC628-29DB-EE16-7ECD-C7C1293657AE}"/>
              </a:ext>
            </a:extLst>
          </p:cNvPr>
          <p:cNvCxnSpPr>
            <a:cxnSpLocks/>
          </p:cNvCxnSpPr>
          <p:nvPr/>
        </p:nvCxnSpPr>
        <p:spPr>
          <a:xfrm>
            <a:off x="4249989" y="2352441"/>
            <a:ext cx="564607" cy="27879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17F2306-15C8-1A70-A042-208F48CCCBC0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6783355" y="2857180"/>
            <a:ext cx="5274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C6C634-A6D0-DA4B-B136-D1ED903DAA89}"/>
              </a:ext>
            </a:extLst>
          </p:cNvPr>
          <p:cNvCxnSpPr>
            <a:cxnSpLocks/>
          </p:cNvCxnSpPr>
          <p:nvPr/>
        </p:nvCxnSpPr>
        <p:spPr>
          <a:xfrm flipH="1">
            <a:off x="2150445" y="3093390"/>
            <a:ext cx="26641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56790CA-AFD0-B23A-3062-B8F0FFC3803C}"/>
              </a:ext>
            </a:extLst>
          </p:cNvPr>
          <p:cNvCxnSpPr>
            <a:endCxn id="32" idx="1"/>
          </p:cNvCxnSpPr>
          <p:nvPr/>
        </p:nvCxnSpPr>
        <p:spPr>
          <a:xfrm flipV="1">
            <a:off x="9067539" y="2857179"/>
            <a:ext cx="28500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43BAACB-C123-344C-E8DF-9DED5E1B0A99}"/>
              </a:ext>
            </a:extLst>
          </p:cNvPr>
          <p:cNvSpPr/>
          <p:nvPr/>
        </p:nvSpPr>
        <p:spPr>
          <a:xfrm>
            <a:off x="10208556" y="3697815"/>
            <a:ext cx="1828800" cy="84515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User submits Query</a:t>
            </a:r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4C2F6128-1DE4-5546-8F24-567DA2AEC8FB}"/>
              </a:ext>
            </a:extLst>
          </p:cNvPr>
          <p:cNvCxnSpPr>
            <a:stCxn id="32" idx="3"/>
          </p:cNvCxnSpPr>
          <p:nvPr/>
        </p:nvCxnSpPr>
        <p:spPr>
          <a:xfrm>
            <a:off x="10889151" y="2857179"/>
            <a:ext cx="563815" cy="76582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CB8B299-40C7-3530-6621-7E383622D44A}"/>
              </a:ext>
            </a:extLst>
          </p:cNvPr>
          <p:cNvCxnSpPr>
            <a:stCxn id="54" idx="1"/>
            <a:endCxn id="34" idx="3"/>
          </p:cNvCxnSpPr>
          <p:nvPr/>
        </p:nvCxnSpPr>
        <p:spPr>
          <a:xfrm flipH="1">
            <a:off x="9918441" y="4120390"/>
            <a:ext cx="290115" cy="162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C5CA45A-47B1-BEF0-B705-271745FB5E60}"/>
              </a:ext>
            </a:extLst>
          </p:cNvPr>
          <p:cNvCxnSpPr>
            <a:stCxn id="34" idx="1"/>
          </p:cNvCxnSpPr>
          <p:nvPr/>
        </p:nvCxnSpPr>
        <p:spPr>
          <a:xfrm flipH="1">
            <a:off x="7746387" y="4136646"/>
            <a:ext cx="3432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96A10301-4368-ADF1-05BF-E3EB2ADAA245}"/>
              </a:ext>
            </a:extLst>
          </p:cNvPr>
          <p:cNvCxnSpPr/>
          <p:nvPr/>
        </p:nvCxnSpPr>
        <p:spPr>
          <a:xfrm rot="10800000">
            <a:off x="5789421" y="3623005"/>
            <a:ext cx="536734" cy="9106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16CA704-957D-89E1-B601-7F779458E285}"/>
              </a:ext>
            </a:extLst>
          </p:cNvPr>
          <p:cNvCxnSpPr>
            <a:endCxn id="36" idx="3"/>
          </p:cNvCxnSpPr>
          <p:nvPr/>
        </p:nvCxnSpPr>
        <p:spPr>
          <a:xfrm rot="10800000" flipV="1">
            <a:off x="5832920" y="4542964"/>
            <a:ext cx="539889" cy="15101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96B7D87-B69E-C946-EF56-4BF4981EEA2A}"/>
              </a:ext>
            </a:extLst>
          </p:cNvPr>
          <p:cNvCxnSpPr>
            <a:stCxn id="36" idx="1"/>
          </p:cNvCxnSpPr>
          <p:nvPr/>
        </p:nvCxnSpPr>
        <p:spPr>
          <a:xfrm flipH="1">
            <a:off x="3284376" y="4693980"/>
            <a:ext cx="7197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: Single Corner Rounded 70">
            <a:extLst>
              <a:ext uri="{FF2B5EF4-FFF2-40B4-BE49-F238E27FC236}">
                <a16:creationId xmlns:a16="http://schemas.microsoft.com/office/drawing/2014/main" id="{814B5427-13BA-8430-20CB-65D433BEC311}"/>
              </a:ext>
            </a:extLst>
          </p:cNvPr>
          <p:cNvSpPr/>
          <p:nvPr/>
        </p:nvSpPr>
        <p:spPr>
          <a:xfrm>
            <a:off x="2192210" y="4104518"/>
            <a:ext cx="1092165" cy="1078502"/>
          </a:xfrm>
          <a:prstGeom prst="round1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Role based Filtering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B930B20-CF1D-D9CB-8F78-758B01FA4C74}"/>
              </a:ext>
            </a:extLst>
          </p:cNvPr>
          <p:cNvCxnSpPr/>
          <p:nvPr/>
        </p:nvCxnSpPr>
        <p:spPr>
          <a:xfrm flipH="1">
            <a:off x="1848956" y="4643769"/>
            <a:ext cx="3432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DAD7CBDD-3C9F-8E04-B5FB-0E881661BDE2}"/>
              </a:ext>
            </a:extLst>
          </p:cNvPr>
          <p:cNvSpPr/>
          <p:nvPr/>
        </p:nvSpPr>
        <p:spPr>
          <a:xfrm>
            <a:off x="515810" y="4136646"/>
            <a:ext cx="1316528" cy="84515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Select top 10 chunks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28B0603-0ADF-8ACA-1F38-604B35F4C564}"/>
              </a:ext>
            </a:extLst>
          </p:cNvPr>
          <p:cNvSpPr txBox="1"/>
          <p:nvPr/>
        </p:nvSpPr>
        <p:spPr>
          <a:xfrm>
            <a:off x="6724343" y="2504229"/>
            <a:ext cx="718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YES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E3E6044-9B29-0CEB-14B4-7F313FF073AF}"/>
              </a:ext>
            </a:extLst>
          </p:cNvPr>
          <p:cNvSpPr txBox="1"/>
          <p:nvPr/>
        </p:nvSpPr>
        <p:spPr>
          <a:xfrm>
            <a:off x="3363606" y="2800232"/>
            <a:ext cx="543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DB4386B-F12C-DC8B-99E7-905776069453}"/>
              </a:ext>
            </a:extLst>
          </p:cNvPr>
          <p:cNvSpPr txBox="1"/>
          <p:nvPr/>
        </p:nvSpPr>
        <p:spPr>
          <a:xfrm>
            <a:off x="5977975" y="3361916"/>
            <a:ext cx="718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YES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2FC6915-CEE5-21B6-48A8-F79F132CE35D}"/>
              </a:ext>
            </a:extLst>
          </p:cNvPr>
          <p:cNvSpPr txBox="1"/>
          <p:nvPr/>
        </p:nvSpPr>
        <p:spPr>
          <a:xfrm>
            <a:off x="6087101" y="4509530"/>
            <a:ext cx="543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2BDCC297-D86E-F86A-F0FB-294D814CEED3}"/>
              </a:ext>
            </a:extLst>
          </p:cNvPr>
          <p:cNvCxnSpPr/>
          <p:nvPr/>
        </p:nvCxnSpPr>
        <p:spPr>
          <a:xfrm>
            <a:off x="1171876" y="5116555"/>
            <a:ext cx="0" cy="603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: Rounded Corners 82">
            <a:extLst>
              <a:ext uri="{FF2B5EF4-FFF2-40B4-BE49-F238E27FC236}">
                <a16:creationId xmlns:a16="http://schemas.microsoft.com/office/drawing/2014/main" id="{1FBBD31B-21D7-84BA-E959-70ED87824C39}"/>
              </a:ext>
            </a:extLst>
          </p:cNvPr>
          <p:cNvSpPr/>
          <p:nvPr/>
        </p:nvSpPr>
        <p:spPr>
          <a:xfrm>
            <a:off x="515810" y="5761147"/>
            <a:ext cx="1463191" cy="69573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Extract sources 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5339C5CC-44BD-5FFA-9231-F3166CDB2026}"/>
              </a:ext>
            </a:extLst>
          </p:cNvPr>
          <p:cNvCxnSpPr>
            <a:stCxn id="83" idx="3"/>
          </p:cNvCxnSpPr>
          <p:nvPr/>
        </p:nvCxnSpPr>
        <p:spPr>
          <a:xfrm flipV="1">
            <a:off x="1979001" y="6109014"/>
            <a:ext cx="64290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AACE7572-E84C-BDCA-134A-05288FFD701E}"/>
              </a:ext>
            </a:extLst>
          </p:cNvPr>
          <p:cNvSpPr/>
          <p:nvPr/>
        </p:nvSpPr>
        <p:spPr>
          <a:xfrm>
            <a:off x="2688298" y="5673889"/>
            <a:ext cx="3289677" cy="779608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Sending Prompt to OpenAI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6F721810-F85D-4A8B-EF53-77626CC109EB}"/>
              </a:ext>
            </a:extLst>
          </p:cNvPr>
          <p:cNvCxnSpPr/>
          <p:nvPr/>
        </p:nvCxnSpPr>
        <p:spPr>
          <a:xfrm>
            <a:off x="6039126" y="6063693"/>
            <a:ext cx="1238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EE0AD7CB-F2F5-BB64-F2D3-280AF02878FE}"/>
              </a:ext>
            </a:extLst>
          </p:cNvPr>
          <p:cNvSpPr/>
          <p:nvPr/>
        </p:nvSpPr>
        <p:spPr>
          <a:xfrm>
            <a:off x="7310795" y="5671152"/>
            <a:ext cx="2453951" cy="779603"/>
          </a:xfrm>
          <a:prstGeom prst="roundRect">
            <a:avLst/>
          </a:prstGeom>
          <a:solidFill>
            <a:srgbClr val="6679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Generates final answer in the user interface</a:t>
            </a:r>
          </a:p>
        </p:txBody>
      </p:sp>
    </p:spTree>
    <p:extLst>
      <p:ext uri="{BB962C8B-B14F-4D97-AF65-F5344CB8AC3E}">
        <p14:creationId xmlns:p14="http://schemas.microsoft.com/office/powerpoint/2010/main" val="4220703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1A22726-DA03-BCB0-F12E-98258FB7E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2E2FFE-0737-1F98-4DF8-814922F5C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876" y="223967"/>
            <a:ext cx="9160475" cy="650240"/>
          </a:xfrm>
        </p:spPr>
        <p:txBody>
          <a:bodyPr anchor="ctr">
            <a:normAutofit/>
          </a:bodyPr>
          <a:lstStyle/>
          <a:p>
            <a:r>
              <a:rPr lang="en-IN" sz="4000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Enhancements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C92D98FE-4ABE-7145-7267-92783244EB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2948013"/>
              </p:ext>
            </p:extLst>
          </p:nvPr>
        </p:nvGraphicFramePr>
        <p:xfrm>
          <a:off x="930876" y="2037806"/>
          <a:ext cx="10335350" cy="40664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Frame 5">
            <a:extLst>
              <a:ext uri="{FF2B5EF4-FFF2-40B4-BE49-F238E27FC236}">
                <a16:creationId xmlns:a16="http://schemas.microsoft.com/office/drawing/2014/main" id="{30F3F079-D3E8-8A5E-BEAF-216F7E096FFF}"/>
              </a:ext>
            </a:extLst>
          </p:cNvPr>
          <p:cNvSpPr/>
          <p:nvPr/>
        </p:nvSpPr>
        <p:spPr>
          <a:xfrm>
            <a:off x="-853440" y="-929640"/>
            <a:ext cx="13914120" cy="8793480"/>
          </a:xfrm>
          <a:prstGeom prst="frame">
            <a:avLst/>
          </a:prstGeom>
          <a:gradFill flip="none" rotWithShape="1">
            <a:gsLst>
              <a:gs pos="100000">
                <a:schemeClr val="accent1">
                  <a:lumMod val="40000"/>
                  <a:lumOff val="60000"/>
                </a:schemeClr>
              </a:gs>
              <a:gs pos="70000">
                <a:schemeClr val="tx2">
                  <a:lumMod val="25000"/>
                  <a:lumOff val="75000"/>
                </a:schemeClr>
              </a:gs>
              <a:gs pos="0">
                <a:srgbClr val="0070C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EF06DA-532F-B796-D21B-0001E120A7C8}"/>
              </a:ext>
            </a:extLst>
          </p:cNvPr>
          <p:cNvSpPr/>
          <p:nvPr/>
        </p:nvSpPr>
        <p:spPr>
          <a:xfrm>
            <a:off x="937366" y="874207"/>
            <a:ext cx="10741688" cy="55265"/>
          </a:xfrm>
          <a:prstGeom prst="rect">
            <a:avLst/>
          </a:prstGeom>
          <a:solidFill>
            <a:srgbClr val="462EF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77786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1FADB-132E-9F0A-3691-217F53065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91895"/>
          </a:xfrm>
        </p:spPr>
        <p:txBody>
          <a:bodyPr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marL="0" indent="0" algn="ctr">
              <a:buNone/>
            </a:pPr>
            <a:r>
              <a:rPr lang="en-IN" sz="6600" b="1" dirty="0">
                <a:solidFill>
                  <a:srgbClr val="6679D8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Thank You!</a:t>
            </a:r>
          </a:p>
        </p:txBody>
      </p:sp>
      <p:sp>
        <p:nvSpPr>
          <p:cNvPr id="4" name="Frame 3">
            <a:extLst>
              <a:ext uri="{FF2B5EF4-FFF2-40B4-BE49-F238E27FC236}">
                <a16:creationId xmlns:a16="http://schemas.microsoft.com/office/drawing/2014/main" id="{3B34A600-4F7D-E9F5-8654-D4FF726B42DC}"/>
              </a:ext>
            </a:extLst>
          </p:cNvPr>
          <p:cNvSpPr/>
          <p:nvPr/>
        </p:nvSpPr>
        <p:spPr>
          <a:xfrm>
            <a:off x="-853440" y="-929640"/>
            <a:ext cx="13914120" cy="8793480"/>
          </a:xfrm>
          <a:prstGeom prst="frame">
            <a:avLst/>
          </a:prstGeom>
          <a:gradFill flip="none" rotWithShape="1">
            <a:gsLst>
              <a:gs pos="100000">
                <a:schemeClr val="accent1">
                  <a:lumMod val="40000"/>
                  <a:lumOff val="60000"/>
                </a:schemeClr>
              </a:gs>
              <a:gs pos="70000">
                <a:schemeClr val="tx2">
                  <a:lumMod val="25000"/>
                  <a:lumOff val="75000"/>
                </a:schemeClr>
              </a:gs>
              <a:gs pos="0">
                <a:srgbClr val="0070C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32727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319</Words>
  <Application>Microsoft Office PowerPoint</Application>
  <PresentationFormat>Widescreen</PresentationFormat>
  <Paragraphs>75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 Theme</vt:lpstr>
      <vt:lpstr>FinsightAI Role-based AI Assistant for Departmental Insights</vt:lpstr>
      <vt:lpstr>Problem Statement</vt:lpstr>
      <vt:lpstr>Solution Overview</vt:lpstr>
      <vt:lpstr>Tech Stack</vt:lpstr>
      <vt:lpstr>Architecture</vt:lpstr>
      <vt:lpstr>Future Enhancements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Sakthi Kalyani</dc:creator>
  <cp:lastModifiedBy>Sakthi Kalyani</cp:lastModifiedBy>
  <cp:revision>2</cp:revision>
  <dcterms:created xsi:type="dcterms:W3CDTF">2025-07-02T01:43:29Z</dcterms:created>
  <dcterms:modified xsi:type="dcterms:W3CDTF">2025-07-02T12:02:58Z</dcterms:modified>
</cp:coreProperties>
</file>